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d0ac818704602" /><Relationship Type="http://schemas.openxmlformats.org/officeDocument/2006/relationships/extended-properties" Target="/docProps/app.xml" Id="R1f53898d063d414d" /><Relationship Type="http://schemas.openxmlformats.org/officeDocument/2006/relationships/officeDocument" Target="/ppt/presentation.xml" Id="Re7af164bb42947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ba11ec99d44c0a"/>
  </p:sldMasterIdLst>
  <p:notesMasterIdLst>
    <p:notesMasterId xmlns:r="http://schemas.openxmlformats.org/officeDocument/2006/relationships" r:id="R3507e05feca64a2e"/>
  </p:notesMasterIdLst>
  <p:sldIdLst>
    <p:sldId xmlns:r="http://schemas.openxmlformats.org/officeDocument/2006/relationships" id="256" r:id="R56f98eeceffd4b9c"/>
    <p:sldId xmlns:r="http://schemas.openxmlformats.org/officeDocument/2006/relationships" id="257" r:id="Rbb917e81a03b4c9d"/>
    <p:sldId xmlns:r="http://schemas.openxmlformats.org/officeDocument/2006/relationships" id="258" r:id="Rd1edfde04631443b"/>
    <p:sldId xmlns:r="http://schemas.openxmlformats.org/officeDocument/2006/relationships" id="259" r:id="R6e339023a21948d8"/>
    <p:sldId xmlns:r="http://schemas.openxmlformats.org/officeDocument/2006/relationships" id="260" r:id="R20f10744a55046db"/>
    <p:sldId xmlns:r="http://schemas.openxmlformats.org/officeDocument/2006/relationships" id="261" r:id="Re80d4df81d164c97"/>
    <p:sldId xmlns:r="http://schemas.openxmlformats.org/officeDocument/2006/relationships" id="262" r:id="Rdc9795f7fcbc43d5"/>
    <p:sldId xmlns:r="http://schemas.openxmlformats.org/officeDocument/2006/relationships" id="263" r:id="R1394bd16b6364838"/>
    <p:sldId xmlns:r="http://schemas.openxmlformats.org/officeDocument/2006/relationships" id="264" r:id="Rea9262858e70434a"/>
    <p:sldId xmlns:r="http://schemas.openxmlformats.org/officeDocument/2006/relationships" id="265" r:id="Rb6fb43be29d9406a"/>
    <p:sldId xmlns:r="http://schemas.openxmlformats.org/officeDocument/2006/relationships" id="266" r:id="R7b4615f9c4bf4be9"/>
    <p:sldId xmlns:r="http://schemas.openxmlformats.org/officeDocument/2006/relationships" id="267" r:id="R874cdf0f05b041d4"/>
    <p:sldId xmlns:r="http://schemas.openxmlformats.org/officeDocument/2006/relationships" id="268" r:id="Rdd283e831d4b41e7"/>
    <p:sldId xmlns:r="http://schemas.openxmlformats.org/officeDocument/2006/relationships" id="269" r:id="R28fab34c983e4e62"/>
    <p:sldId xmlns:r="http://schemas.openxmlformats.org/officeDocument/2006/relationships" id="270" r:id="R4f8c79a73a374fec"/>
    <p:sldId xmlns:r="http://schemas.openxmlformats.org/officeDocument/2006/relationships" id="271" r:id="R0b1c070a8e3a46cc"/>
    <p:sldId xmlns:r="http://schemas.openxmlformats.org/officeDocument/2006/relationships" id="272" r:id="Re26d5a3c55524de6"/>
    <p:sldId xmlns:r="http://schemas.openxmlformats.org/officeDocument/2006/relationships" id="273" r:id="R2bed6c86fd734a27"/>
    <p:sldId xmlns:r="http://schemas.openxmlformats.org/officeDocument/2006/relationships" id="274" r:id="Rec487cf9be14487f"/>
    <p:sldId xmlns:r="http://schemas.openxmlformats.org/officeDocument/2006/relationships" id="275" r:id="R196987866a16463c"/>
    <p:sldId xmlns:r="http://schemas.openxmlformats.org/officeDocument/2006/relationships" id="276" r:id="R0fca17570bcc4761"/>
    <p:sldId xmlns:r="http://schemas.openxmlformats.org/officeDocument/2006/relationships" id="277" r:id="R2be16cde33a149d4"/>
    <p:sldId xmlns:r="http://schemas.openxmlformats.org/officeDocument/2006/relationships" id="278" r:id="R054f0c05404941ba"/>
    <p:sldId xmlns:r="http://schemas.openxmlformats.org/officeDocument/2006/relationships" id="279" r:id="R5325cb21c9b4470e"/>
    <p:sldId xmlns:r="http://schemas.openxmlformats.org/officeDocument/2006/relationships" id="280" r:id="R5dc25e6116524240"/>
    <p:sldId xmlns:r="http://schemas.openxmlformats.org/officeDocument/2006/relationships" id="281" r:id="R7eb955916c42414b"/>
    <p:sldId xmlns:r="http://schemas.openxmlformats.org/officeDocument/2006/relationships" id="282" r:id="R33ee274508954d67"/>
    <p:sldId xmlns:r="http://schemas.openxmlformats.org/officeDocument/2006/relationships" id="283" r:id="Rc6180f0b490d4025"/>
    <p:sldId xmlns:r="http://schemas.openxmlformats.org/officeDocument/2006/relationships" id="284" r:id="Rb0769b8fb91b4196"/>
    <p:sldId xmlns:r="http://schemas.openxmlformats.org/officeDocument/2006/relationships" id="285" r:id="R47e312742b7a4fbf"/>
    <p:sldId xmlns:r="http://schemas.openxmlformats.org/officeDocument/2006/relationships" id="286" r:id="R8bb67ec9ccc64e72"/>
    <p:sldId xmlns:r="http://schemas.openxmlformats.org/officeDocument/2006/relationships" id="287" r:id="R34ad891ecfef4596"/>
    <p:sldId xmlns:r="http://schemas.openxmlformats.org/officeDocument/2006/relationships" id="288" r:id="Rfea5ddfdcc7d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590e5b2a3f473f" /><Relationship Type="http://schemas.openxmlformats.org/officeDocument/2006/relationships/slideMaster" Target="/ppt/slideMasters/slideMaster1.xml" Id="R47ba11ec99d44c0a" /><Relationship Type="http://schemas.openxmlformats.org/officeDocument/2006/relationships/notesMaster" Target="/ppt/notesMasters/notesMaster1.xml" Id="R3507e05feca64a2e" /><Relationship Type="http://schemas.openxmlformats.org/officeDocument/2006/relationships/presProps" Target="/ppt/presProps.xml" Id="R2c963183e8a44bf5" /><Relationship Type="http://schemas.openxmlformats.org/officeDocument/2006/relationships/tableStyles" Target="/ppt/tableStyles.xml" Id="Rdd00c2be497f4c3a" /><Relationship Type="http://schemas.openxmlformats.org/officeDocument/2006/relationships/slide" Target="/ppt/slides/slide1.xml" Id="R56f98eeceffd4b9c" /><Relationship Type="http://schemas.openxmlformats.org/officeDocument/2006/relationships/slide" Target="/ppt/slides/slide2.xml" Id="Rbb917e81a03b4c9d" /><Relationship Type="http://schemas.openxmlformats.org/officeDocument/2006/relationships/slide" Target="/ppt/slides/slide3.xml" Id="Rd1edfde04631443b" /><Relationship Type="http://schemas.openxmlformats.org/officeDocument/2006/relationships/slide" Target="/ppt/slides/slide4.xml" Id="R6e339023a21948d8" /><Relationship Type="http://schemas.openxmlformats.org/officeDocument/2006/relationships/slide" Target="/ppt/slides/slide5.xml" Id="R20f10744a55046db" /><Relationship Type="http://schemas.openxmlformats.org/officeDocument/2006/relationships/slide" Target="/ppt/slides/slide6.xml" Id="Re80d4df81d164c97" /><Relationship Type="http://schemas.openxmlformats.org/officeDocument/2006/relationships/slide" Target="/ppt/slides/slide7.xml" Id="Rdc9795f7fcbc43d5" /><Relationship Type="http://schemas.openxmlformats.org/officeDocument/2006/relationships/slide" Target="/ppt/slides/slide8.xml" Id="R1394bd16b6364838" /><Relationship Type="http://schemas.openxmlformats.org/officeDocument/2006/relationships/slide" Target="/ppt/slides/slide9.xml" Id="Rea9262858e70434a" /><Relationship Type="http://schemas.openxmlformats.org/officeDocument/2006/relationships/slide" Target="/ppt/slides/slide10.xml" Id="Rb6fb43be29d9406a" /><Relationship Type="http://schemas.openxmlformats.org/officeDocument/2006/relationships/slide" Target="/ppt/slides/slide11.xml" Id="R7b4615f9c4bf4be9" /><Relationship Type="http://schemas.openxmlformats.org/officeDocument/2006/relationships/slide" Target="/ppt/slides/slide12.xml" Id="R874cdf0f05b041d4" /><Relationship Type="http://schemas.openxmlformats.org/officeDocument/2006/relationships/slide" Target="/ppt/slides/slide13.xml" Id="Rdd283e831d4b41e7" /><Relationship Type="http://schemas.openxmlformats.org/officeDocument/2006/relationships/slide" Target="/ppt/slides/slide14.xml" Id="R28fab34c983e4e62" /><Relationship Type="http://schemas.openxmlformats.org/officeDocument/2006/relationships/slide" Target="/ppt/slides/slide15.xml" Id="R4f8c79a73a374fec" /><Relationship Type="http://schemas.openxmlformats.org/officeDocument/2006/relationships/slide" Target="/ppt/slides/slide16.xml" Id="R0b1c070a8e3a46cc" /><Relationship Type="http://schemas.openxmlformats.org/officeDocument/2006/relationships/slide" Target="/ppt/slides/slide17.xml" Id="Re26d5a3c55524de6" /><Relationship Type="http://schemas.openxmlformats.org/officeDocument/2006/relationships/slide" Target="/ppt/slides/slide18.xml" Id="R2bed6c86fd734a27" /><Relationship Type="http://schemas.openxmlformats.org/officeDocument/2006/relationships/slide" Target="/ppt/slides/slide19.xml" Id="Rec487cf9be14487f" /><Relationship Type="http://schemas.openxmlformats.org/officeDocument/2006/relationships/slide" Target="/ppt/slides/slide20.xml" Id="R196987866a16463c" /><Relationship Type="http://schemas.openxmlformats.org/officeDocument/2006/relationships/slide" Target="/ppt/slides/slide21.xml" Id="R0fca17570bcc4761" /><Relationship Type="http://schemas.openxmlformats.org/officeDocument/2006/relationships/slide" Target="/ppt/slides/slide22.xml" Id="R2be16cde33a149d4" /><Relationship Type="http://schemas.openxmlformats.org/officeDocument/2006/relationships/slide" Target="/ppt/slides/slide23.xml" Id="R054f0c05404941ba" /><Relationship Type="http://schemas.openxmlformats.org/officeDocument/2006/relationships/slide" Target="/ppt/slides/slide24.xml" Id="R5325cb21c9b4470e" /><Relationship Type="http://schemas.openxmlformats.org/officeDocument/2006/relationships/slide" Target="/ppt/slides/slide25.xml" Id="R5dc25e6116524240" /><Relationship Type="http://schemas.openxmlformats.org/officeDocument/2006/relationships/slide" Target="/ppt/slides/slide26.xml" Id="R7eb955916c42414b" /><Relationship Type="http://schemas.openxmlformats.org/officeDocument/2006/relationships/slide" Target="/ppt/slides/slide27.xml" Id="R33ee274508954d67" /><Relationship Type="http://schemas.openxmlformats.org/officeDocument/2006/relationships/slide" Target="/ppt/slides/slide28.xml" Id="Rc6180f0b490d4025" /><Relationship Type="http://schemas.openxmlformats.org/officeDocument/2006/relationships/slide" Target="/ppt/slides/slide29.xml" Id="Rb0769b8fb91b4196" /><Relationship Type="http://schemas.openxmlformats.org/officeDocument/2006/relationships/slide" Target="/ppt/slides/slide30.xml" Id="R47e312742b7a4fbf" /><Relationship Type="http://schemas.openxmlformats.org/officeDocument/2006/relationships/slide" Target="/ppt/slides/slide31.xml" Id="R8bb67ec9ccc64e72" /><Relationship Type="http://schemas.openxmlformats.org/officeDocument/2006/relationships/slide" Target="/ppt/slides/slide32.xml" Id="R34ad891ecfef4596" /><Relationship Type="http://schemas.openxmlformats.org/officeDocument/2006/relationships/slide" Target="/ppt/slides/slide33.xml" Id="Rfea5ddfdcc7d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0af93e9e5e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c5c69833304b90" /><Relationship Type="http://schemas.openxmlformats.org/officeDocument/2006/relationships/notesMaster" Target="/ppt/notesMasters/notesMaster1.xml" Id="R565e32776dc5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1c0ed25e1242ab" /><Relationship Type="http://schemas.openxmlformats.org/officeDocument/2006/relationships/notesMaster" Target="/ppt/notesMasters/notesMaster1.xml" Id="R20200f24615c41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050a00b0954029" /><Relationship Type="http://schemas.openxmlformats.org/officeDocument/2006/relationships/notesMaster" Target="/ppt/notesMasters/notesMaster1.xml" Id="R73b94bc57a4941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089a0e83c54620" /><Relationship Type="http://schemas.openxmlformats.org/officeDocument/2006/relationships/notesMaster" Target="/ppt/notesMasters/notesMaster1.xml" Id="R139696c8befe40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8b582c101d4fcd" /><Relationship Type="http://schemas.openxmlformats.org/officeDocument/2006/relationships/notesMaster" Target="/ppt/notesMasters/notesMaster1.xml" Id="R969c3405b03743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02222075d2405c" /><Relationship Type="http://schemas.openxmlformats.org/officeDocument/2006/relationships/notesMaster" Target="/ppt/notesMasters/notesMaster1.xml" Id="Rfc4e3a7bb15c45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8fd7f62c284ac2" /><Relationship Type="http://schemas.openxmlformats.org/officeDocument/2006/relationships/notesMaster" Target="/ppt/notesMasters/notesMaster1.xml" Id="Re06863a5db2345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4d3abe541b4b15" /><Relationship Type="http://schemas.openxmlformats.org/officeDocument/2006/relationships/notesMaster" Target="/ppt/notesMasters/notesMaster1.xml" Id="R8a06327253964d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44f71829fa47c3" /><Relationship Type="http://schemas.openxmlformats.org/officeDocument/2006/relationships/notesMaster" Target="/ppt/notesMasters/notesMaster1.xml" Id="R02f3b27d949b4d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285e1f74f845e1" /><Relationship Type="http://schemas.openxmlformats.org/officeDocument/2006/relationships/notesMaster" Target="/ppt/notesMasters/notesMaster1.xml" Id="R0a7faf8d62af42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d82fe0a95b4586" /><Relationship Type="http://schemas.openxmlformats.org/officeDocument/2006/relationships/notesMaster" Target="/ppt/notesMasters/notesMaster1.xml" Id="Ra9ece6f5ef464a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59ce5a80eb46c3" /><Relationship Type="http://schemas.openxmlformats.org/officeDocument/2006/relationships/notesMaster" Target="/ppt/notesMasters/notesMaster1.xml" Id="R03ec14bf2e6440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185a49d05642cb" /><Relationship Type="http://schemas.openxmlformats.org/officeDocument/2006/relationships/notesMaster" Target="/ppt/notesMasters/notesMaster1.xml" Id="Rbf6ec3234d4142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e475095ffc4e7e" /><Relationship Type="http://schemas.openxmlformats.org/officeDocument/2006/relationships/notesMaster" Target="/ppt/notesMasters/notesMaster1.xml" Id="R57c53d34287a4e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e2d3d6175543bd" /><Relationship Type="http://schemas.openxmlformats.org/officeDocument/2006/relationships/notesMaster" Target="/ppt/notesMasters/notesMaster1.xml" Id="Rf0438d86d14342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8af003dbaa4978" /><Relationship Type="http://schemas.openxmlformats.org/officeDocument/2006/relationships/notesMaster" Target="/ppt/notesMasters/notesMaster1.xml" Id="Rfa506c67c05845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db1b5631d3465c" /><Relationship Type="http://schemas.openxmlformats.org/officeDocument/2006/relationships/notesMaster" Target="/ppt/notesMasters/notesMaster1.xml" Id="Raab8caba381243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34b3d5a34f418f" /><Relationship Type="http://schemas.openxmlformats.org/officeDocument/2006/relationships/notesMaster" Target="/ppt/notesMasters/notesMaster1.xml" Id="Rf1b45654594747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f80836f8de4377" /><Relationship Type="http://schemas.openxmlformats.org/officeDocument/2006/relationships/notesMaster" Target="/ppt/notesMasters/notesMaster1.xml" Id="Rbe520ed581f54f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ab0f6a4ab94fa0" /><Relationship Type="http://schemas.openxmlformats.org/officeDocument/2006/relationships/notesMaster" Target="/ppt/notesMasters/notesMaster1.xml" Id="R65940c593ca04f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2ad6fdbed940e1" /><Relationship Type="http://schemas.openxmlformats.org/officeDocument/2006/relationships/notesMaster" Target="/ppt/notesMasters/notesMaster1.xml" Id="Rbb67114a80d440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46620011fd4c69" /><Relationship Type="http://schemas.openxmlformats.org/officeDocument/2006/relationships/notesMaster" Target="/ppt/notesMasters/notesMaster1.xml" Id="R5d4615a17991493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44abae828c4d85" /><Relationship Type="http://schemas.openxmlformats.org/officeDocument/2006/relationships/notesMaster" Target="/ppt/notesMasters/notesMaster1.xml" Id="R8ac4564e4fb442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5e13c6e9d64a94" /><Relationship Type="http://schemas.openxmlformats.org/officeDocument/2006/relationships/notesMaster" Target="/ppt/notesMasters/notesMaster1.xml" Id="R384594a3ad0f43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d5c956c6e2a4972" /><Relationship Type="http://schemas.openxmlformats.org/officeDocument/2006/relationships/notesMaster" Target="/ppt/notesMasters/notesMaster1.xml" Id="Rd0d9a24b4567429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9ceb6af8b4487a" /><Relationship Type="http://schemas.openxmlformats.org/officeDocument/2006/relationships/notesMaster" Target="/ppt/notesMasters/notesMaster1.xml" Id="R5230afbff38b433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5629090d6b4b14" /><Relationship Type="http://schemas.openxmlformats.org/officeDocument/2006/relationships/notesMaster" Target="/ppt/notesMasters/notesMaster1.xml" Id="R1c1f917c38a0439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903f111d9c34f39" /><Relationship Type="http://schemas.openxmlformats.org/officeDocument/2006/relationships/notesMaster" Target="/ppt/notesMasters/notesMaster1.xml" Id="R5c2a3ae562b8462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1417ad1038d4b87" /><Relationship Type="http://schemas.openxmlformats.org/officeDocument/2006/relationships/notesMaster" Target="/ppt/notesMasters/notesMaster1.xml" Id="R1149a98706b64f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f137175a78e47ab" /><Relationship Type="http://schemas.openxmlformats.org/officeDocument/2006/relationships/notesMaster" Target="/ppt/notesMasters/notesMaster1.xml" Id="Re9f0fb2e3f15493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034cd326ec040e0" /><Relationship Type="http://schemas.openxmlformats.org/officeDocument/2006/relationships/notesMaster" Target="/ppt/notesMasters/notesMaster1.xml" Id="R75f56e930955443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a8861ac24cb4547" /><Relationship Type="http://schemas.openxmlformats.org/officeDocument/2006/relationships/notesMaster" Target="/ppt/notesMasters/notesMaster1.xml" Id="Rfe758d622bd4442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d994d0a301844ad" /><Relationship Type="http://schemas.openxmlformats.org/officeDocument/2006/relationships/notesMaster" Target="/ppt/notesMasters/notesMaster1.xml" Id="Rb2bed97caffc4d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报告分两段。正文从 LOS 投影开始，把 SM 和 VCE 的职责拆开；演示部分运行刘计洪提供的 MATLAB 原版与本地 Python 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 18 页作为 15 分钟正文。第 29 页以后进入代码演示。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这里说明原理以 2018 方法为主，2019 和 2022 论文提供地震应用证据。MATLAB 原版也作为本次 PPT 的核心材料。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请观众对比第三列 POT_AZI 与第一列 DInSAR 的纹理。几何更丰富并不等于每一组都应该等权使用。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从观众熟悉的 LOS 解释。a、b、c 不是待估参数，而是由观测几何计算出来的已知系数。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给出矩阵的行与列含义。行数是有效观测数，列数是三个形变分量。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这一页把后续两部分挂到观众已经懂的最小二乘框架上。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图中红线在黄色边界带跳动，蓝线更连续。SM 的邻域观测使覆盖发生变化时方程不至于骤变。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 是 3×2 的局部位移梯度。窗口太大时线性假设变差，窗口太小时冗余不足。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这是代码真实使用的九列。讲清每个乘积项为什么出现：先把邻域位移展开，再乘 LOS 投影系数。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rank 检查仍然只针对观测几何。空间模型可以补覆盖与稳定性，但不能替代真实几何多样性。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这页是本次修改的核心。SM 和 VCE 处在同一个最小二乘框架的不同位置。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先建立概率模型，再讲计算公式。观测组通常按轨道、传感器和观测类型划分。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 的对角项含 k_i 减去自由度影响，非对角项反映不同组通过共同未知数产生的耦合。无需逐项背公式，但要知道不是简单用残差均方代替方差。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这是批判性但重要的代码事实。论文写的是迭代更新，当前提供的版本实际只重定权一次。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这页按照 SMVCE_solve3D.m 的代码流程讲，避免把算法抽象成与实现无关的流程图。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论文选择 21×21，当前震例使用 41×41。参数不能直接跨震例照搬，需要结合分辨率、形变梯度与缺测范围调整。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这张图用于说明模型检验思路：结果图、模型拟合和残差需要一起看。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区分外部精度与内部一致性。我们能验证移植是否接近 MATLAB，不能由此证明震例结果的绝对精度。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强调两组对比不是换数据，而是在同一震例中改变参与反演的观测组集合。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先讲清楚本页的层级：正文结果全部来自整景；ROI 只保留为演示时的快速运行样例。Python GPU 预览关闭断层跨侧窗口剔除，不能冒充严格逐像元复现。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逐组读表时先看 MATLAB 严格原版，再把 Python 预览当作量级核对。不要简单把 sita 大小等同于传感器质量。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不要沿用 ROI 的结论。整景差值可能显示不同的空间结构；结合下一页定量值解释。VCE 是定权，不是条带滤波器。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这页不是逐像元一致性证明。共同数据与局部模型相同，但 GPU 预览为了速度关闭断层跨侧窗口剔除；差值包含这一配置差异。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先读上三行：这是严格可解释的观测集合影响。下三行只说明 Python GPU 预览与原版的差距，不是严格移植误差，因为预览关闭了断层跨侧窗口剔除。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分清三件事：Python 对通用 SM-VCE 的移植、为整景预览添加的 GPU 运行配置、以及当前震例的输出裁剪。后两者都不是通用算法改进。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批判性评价要对应模型与代码，不泛泛说优缺点。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正文停在这里。随后切换到 MATLAB 和 Python 的现场演示。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按固定顺序演示，避免现场临时找文件。整景结果已预先计算；现场 ROI 只演示代码流程。所有输出写入 04_运行结果，不修改 MATLAB 原目录。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如现场时间不足，只运行 original7，all9 使用已保存结果展示。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命令行参数以当前脚本帮助为准。现场先运行 help，确认 case 参数名称。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这页留给现场故障时使用。先定位数据和门限，再怀疑算法公式。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答疑页。完整引用和运行路径均可从本地目录打开。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90e79243146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08c410705f42a0" /><Relationship Type="http://schemas.openxmlformats.org/officeDocument/2006/relationships/slideLayout" Target="/ppt/slideLayouts/slideLayout1.xml" Id="Radbc0b8034a2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bc0b8034a2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6b19dd5da4c94" /><Relationship Type="http://schemas.openxmlformats.org/officeDocument/2006/relationships/image" Target="/ppt/media/image.png" Id="Rdccb822de3364a11" /><Relationship Type="http://schemas.openxmlformats.org/officeDocument/2006/relationships/image" Target="/ppt/media/image2.png" Id="R2393d5ad5bc94fa0" /><Relationship Type="http://schemas.openxmlformats.org/officeDocument/2006/relationships/notesSlide" Target="/ppt/notesSlides/notesSlide1.xml" Id="Rfa2c525c9953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fa9c2f6bf4aad" /><Relationship Type="http://schemas.openxmlformats.org/officeDocument/2006/relationships/image" Target="/ppt/media/image3.png" Id="R707513a8d74b492f" /><Relationship Type="http://schemas.openxmlformats.org/officeDocument/2006/relationships/notesSlide" Target="/ppt/notesSlides/notesSlide2.xml" Id="R10af2558fa9042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fca931e264616" /><Relationship Type="http://schemas.openxmlformats.org/officeDocument/2006/relationships/image" Target="/ppt/media/image4.png" Id="R6bfea89690204c6a" /><Relationship Type="http://schemas.openxmlformats.org/officeDocument/2006/relationships/notesSlide" Target="/ppt/notesSlides/notesSlide3.xml" Id="R5c0e0c06a50d40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16767364342c9" /><Relationship Type="http://schemas.openxmlformats.org/officeDocument/2006/relationships/image" Target="/ppt/media/image5.png" Id="Rdd688b14f39f49d9" /><Relationship Type="http://schemas.openxmlformats.org/officeDocument/2006/relationships/image" Target="/ppt/media/image6.png" Id="Rf8caf541b76d4001" /><Relationship Type="http://schemas.openxmlformats.org/officeDocument/2006/relationships/notesSlide" Target="/ppt/notesSlides/notesSlide4.xml" Id="R9bcce05373a743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2091de18b4f5c" /><Relationship Type="http://schemas.openxmlformats.org/officeDocument/2006/relationships/image" Target="/ppt/media/image7.png" Id="R8531ecae5de54c5e" /><Relationship Type="http://schemas.openxmlformats.org/officeDocument/2006/relationships/notesSlide" Target="/ppt/notesSlides/notesSlide5.xml" Id="R1bdf9dd8f61e4b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a46a0f49643df" /><Relationship Type="http://schemas.openxmlformats.org/officeDocument/2006/relationships/image" Target="/ppt/media/image8.png" Id="R69b29a0fff0141ca" /><Relationship Type="http://schemas.openxmlformats.org/officeDocument/2006/relationships/notesSlide" Target="/ppt/notesSlides/notesSlide6.xml" Id="R7a2dd1dee1194f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dd4db18334f54" /><Relationship Type="http://schemas.openxmlformats.org/officeDocument/2006/relationships/image" Target="/ppt/media/image9.png" Id="R87ab64b21af1405a" /><Relationship Type="http://schemas.openxmlformats.org/officeDocument/2006/relationships/notesSlide" Target="/ppt/notesSlides/notesSlide7.xml" Id="R56439d9cc1c24a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54942120e463b" /><Relationship Type="http://schemas.openxmlformats.org/officeDocument/2006/relationships/image" Target="/ppt/media/image10.png" Id="Ra19f6568a8804a43" /><Relationship Type="http://schemas.openxmlformats.org/officeDocument/2006/relationships/image" Target="/ppt/media/image11.png" Id="R4631759f118f42b2" /><Relationship Type="http://schemas.openxmlformats.org/officeDocument/2006/relationships/notesSlide" Target="/ppt/notesSlides/notesSlide8.xml" Id="Rb0472b49ac2444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4b3c4ba594536" /><Relationship Type="http://schemas.openxmlformats.org/officeDocument/2006/relationships/image" Target="/ppt/media/image12.png" Id="Rfb12783c2cad455a" /><Relationship Type="http://schemas.openxmlformats.org/officeDocument/2006/relationships/notesSlide" Target="/ppt/notesSlides/notesSlide9.xml" Id="Rff3f77618cc049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13229cb1640c7" /><Relationship Type="http://schemas.openxmlformats.org/officeDocument/2006/relationships/image" Target="/ppt/media/image13.png" Id="R5bfff777832e461a" /><Relationship Type="http://schemas.openxmlformats.org/officeDocument/2006/relationships/notesSlide" Target="/ppt/notesSlides/notesSlide10.xml" Id="Rdd5260f12eec4a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63350d1f940a4" /><Relationship Type="http://schemas.openxmlformats.org/officeDocument/2006/relationships/image" Target="/ppt/media/image14.png" Id="Rb803189ee3724579" /><Relationship Type="http://schemas.openxmlformats.org/officeDocument/2006/relationships/notesSlide" Target="/ppt/notesSlides/notesSlide11.xml" Id="Rddd27c8c723147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d9f79b3954c6a" /><Relationship Type="http://schemas.openxmlformats.org/officeDocument/2006/relationships/image" Target="/ppt/media/image15.png" Id="R42243482f5b04031" /><Relationship Type="http://schemas.openxmlformats.org/officeDocument/2006/relationships/notesSlide" Target="/ppt/notesSlides/notesSlide12.xml" Id="Rb36fbdd105e144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3ccb1c8724602" /><Relationship Type="http://schemas.openxmlformats.org/officeDocument/2006/relationships/image" Target="/ppt/media/image16.png" Id="Rd746f593a4584bfe" /><Relationship Type="http://schemas.openxmlformats.org/officeDocument/2006/relationships/notesSlide" Target="/ppt/notesSlides/notesSlide13.xml" Id="Re5d20454c80a43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b6e736f7f4ff9" /><Relationship Type="http://schemas.openxmlformats.org/officeDocument/2006/relationships/image" Target="/ppt/media/image17.png" Id="R9138df3f16474f3e" /><Relationship Type="http://schemas.openxmlformats.org/officeDocument/2006/relationships/notesSlide" Target="/ppt/notesSlides/notesSlide14.xml" Id="R38227c8a8b6544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b3705019442c9" /><Relationship Type="http://schemas.openxmlformats.org/officeDocument/2006/relationships/image" Target="/ppt/media/image18.png" Id="Rcb156b17a0514d87" /><Relationship Type="http://schemas.openxmlformats.org/officeDocument/2006/relationships/notesSlide" Target="/ppt/notesSlides/notesSlide15.xml" Id="Ree741fc909ad41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4cf94a8754067" /><Relationship Type="http://schemas.openxmlformats.org/officeDocument/2006/relationships/image" Target="/ppt/media/image19.png" Id="R9b36efb62764472e" /><Relationship Type="http://schemas.openxmlformats.org/officeDocument/2006/relationships/notesSlide" Target="/ppt/notesSlides/notesSlide16.xml" Id="R14fefe35600949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7379973ad4fec" /><Relationship Type="http://schemas.openxmlformats.org/officeDocument/2006/relationships/image" Target="/ppt/media/image20.png" Id="Reffd1e75f7724173" /><Relationship Type="http://schemas.openxmlformats.org/officeDocument/2006/relationships/image" Target="/ppt/media/image21.png" Id="R2ca50d24c02549ef" /><Relationship Type="http://schemas.openxmlformats.org/officeDocument/2006/relationships/notesSlide" Target="/ppt/notesSlides/notesSlide17.xml" Id="Rac341162a5f445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0f4ccde124f09" /><Relationship Type="http://schemas.openxmlformats.org/officeDocument/2006/relationships/image" Target="/ppt/media/image22.png" Id="R3c40680ddd444cd5" /><Relationship Type="http://schemas.openxmlformats.org/officeDocument/2006/relationships/image" Target="/ppt/media/image23.png" Id="R90e12275033147c5" /><Relationship Type="http://schemas.openxmlformats.org/officeDocument/2006/relationships/notesSlide" Target="/ppt/notesSlides/notesSlide18.xml" Id="R7bc87c946e404b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988094b224ba1" /><Relationship Type="http://schemas.openxmlformats.org/officeDocument/2006/relationships/image" Target="/ppt/media/image24.png" Id="R13021ebbca1a4d26" /><Relationship Type="http://schemas.openxmlformats.org/officeDocument/2006/relationships/image" Target="/ppt/media/image25.png" Id="R36d624c849994376" /><Relationship Type="http://schemas.openxmlformats.org/officeDocument/2006/relationships/notesSlide" Target="/ppt/notesSlides/notesSlide19.xml" Id="Re0d28f473c574e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2bf1dacce4abd" /><Relationship Type="http://schemas.openxmlformats.org/officeDocument/2006/relationships/image" Target="/ppt/media/image26.png" Id="Ra5737dd607f84caa" /><Relationship Type="http://schemas.openxmlformats.org/officeDocument/2006/relationships/notesSlide" Target="/ppt/notesSlides/notesSlide20.xml" Id="Rba84e09d51124d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ca6d922974c21" /><Relationship Type="http://schemas.openxmlformats.org/officeDocument/2006/relationships/image" Target="/ppt/media/image27.png" Id="R255d6593581743d2" /><Relationship Type="http://schemas.openxmlformats.org/officeDocument/2006/relationships/notesSlide" Target="/ppt/notesSlides/notesSlide21.xml" Id="R3ff797a2755e49c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60b7582f54734" /><Relationship Type="http://schemas.openxmlformats.org/officeDocument/2006/relationships/image" Target="/ppt/media/image28.png" Id="Re009355d008947e9" /><Relationship Type="http://schemas.openxmlformats.org/officeDocument/2006/relationships/notesSlide" Target="/ppt/notesSlides/notesSlide22.xml" Id="R747cb4bd45fb4e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5c90e7ece4980" /><Relationship Type="http://schemas.openxmlformats.org/officeDocument/2006/relationships/image" Target="/ppt/media/image29.png" Id="R58966c6bd674490e" /><Relationship Type="http://schemas.openxmlformats.org/officeDocument/2006/relationships/image" Target="/ppt/media/image30.png" Id="Re24ff9590036429b" /><Relationship Type="http://schemas.openxmlformats.org/officeDocument/2006/relationships/notesSlide" Target="/ppt/notesSlides/notesSlide23.xml" Id="Rc2c5815eb0bb4e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6134ffc7940b2" /><Relationship Type="http://schemas.openxmlformats.org/officeDocument/2006/relationships/image" Target="/ppt/media/image31.png" Id="Rbee1d58cd27e4555" /><Relationship Type="http://schemas.openxmlformats.org/officeDocument/2006/relationships/image" Target="/ppt/media/image32.png" Id="R1f37339e6c724ff4" /><Relationship Type="http://schemas.openxmlformats.org/officeDocument/2006/relationships/notesSlide" Target="/ppt/notesSlides/notesSlide24.xml" Id="R9c088273920347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3643768fa4187" /><Relationship Type="http://schemas.openxmlformats.org/officeDocument/2006/relationships/image" Target="/ppt/media/image33.png" Id="Ra029a9dc27b24e09" /><Relationship Type="http://schemas.openxmlformats.org/officeDocument/2006/relationships/notesSlide" Target="/ppt/notesSlides/notesSlide25.xml" Id="R99eb05a0a855495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1ecd028af4e12" /><Relationship Type="http://schemas.openxmlformats.org/officeDocument/2006/relationships/image" Target="/ppt/media/image34.png" Id="R12b0c74ba42344ca" /><Relationship Type="http://schemas.openxmlformats.org/officeDocument/2006/relationships/image" Target="/ppt/media/image35.png" Id="R743844aefa81477f" /><Relationship Type="http://schemas.openxmlformats.org/officeDocument/2006/relationships/notesSlide" Target="/ppt/notesSlides/notesSlide26.xml" Id="Rbf3ebd7b63fb4d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6ee487d864151" /><Relationship Type="http://schemas.openxmlformats.org/officeDocument/2006/relationships/image" Target="/ppt/media/image36.png" Id="R7faf193c3d2848bd" /><Relationship Type="http://schemas.openxmlformats.org/officeDocument/2006/relationships/notesSlide" Target="/ppt/notesSlides/notesSlide27.xml" Id="R4120fc574d0f4b7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d1790658040bb" /><Relationship Type="http://schemas.openxmlformats.org/officeDocument/2006/relationships/image" Target="/ppt/media/image37.png" Id="R0821b8fc85064388" /><Relationship Type="http://schemas.openxmlformats.org/officeDocument/2006/relationships/notesSlide" Target="/ppt/notesSlides/notesSlide28.xml" Id="R518f976e46f34bb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bdc4bbc244f7f" /><Relationship Type="http://schemas.openxmlformats.org/officeDocument/2006/relationships/image" Target="/ppt/media/image38.png" Id="Rfcfe0cd05f6b4cb6" /><Relationship Type="http://schemas.openxmlformats.org/officeDocument/2006/relationships/notesSlide" Target="/ppt/notesSlides/notesSlide29.xml" Id="R70b716d30c73401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40ade02264aaf" /><Relationship Type="http://schemas.openxmlformats.org/officeDocument/2006/relationships/image" Target="/ppt/media/image39.png" Id="R6d45597503bf4776" /><Relationship Type="http://schemas.openxmlformats.org/officeDocument/2006/relationships/notesSlide" Target="/ppt/notesSlides/notesSlide30.xml" Id="Rf40bcb4ccf4f417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6e6b4be1545ef" /><Relationship Type="http://schemas.openxmlformats.org/officeDocument/2006/relationships/image" Target="/ppt/media/image40.png" Id="R75206dd0f4b849c5" /><Relationship Type="http://schemas.openxmlformats.org/officeDocument/2006/relationships/notesSlide" Target="/ppt/notesSlides/notesSlide31.xml" Id="R171096c2e92849e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352077db44855" /><Relationship Type="http://schemas.openxmlformats.org/officeDocument/2006/relationships/image" Target="/ppt/media/image41.png" Id="R606f921cf3054649" /><Relationship Type="http://schemas.openxmlformats.org/officeDocument/2006/relationships/notesSlide" Target="/ppt/notesSlides/notesSlide32.xml" Id="R64e71f53403147d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28673bbbf404f" /><Relationship Type="http://schemas.openxmlformats.org/officeDocument/2006/relationships/image" Target="/ppt/media/image42.png" Id="R0297c09ccb904bb9" /><Relationship Type="http://schemas.openxmlformats.org/officeDocument/2006/relationships/notesSlide" Target="/ppt/notesSlides/notesSlide33.xml" Id="Rd0c191c3c0814d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b822de3364a1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6B44A-28A4-4E29-A953-F6379823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3d5ad5bc94fa0"/>
          <a:stretch xmlns:a="http://schemas.openxmlformats.org/drawingml/2006/main"/>
        </p:blipFill>
        <p:spPr>
          <a:xfrm xmlns:a="http://schemas.openxmlformats.org/drawingml/2006/main">
            <a:off x="5029200" y="114300"/>
            <a:ext cx="2143125" cy="2143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DDE25-3615-4C6C-A61F-6568F815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SM-VCE 三维形变反演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0FDB3-6FA7-4285-8E56-848E48AD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从 LOS 观测方程到 MATLAB 与 Python 实跑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8EB48-C3FB-42BB-B448-448CD58D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385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刘计洪算法文献与代码复现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B7FC6-4082-4F33-8305-D98F66D8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唐家铮    2026-09-04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62AD5-EE4F-471C-BE4C-482DB4C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正文 15 min    程序演示 20 min</a:t>
            </a:r>
          </a:p>
        </p:txBody>
      </p:sp>
    </p:spTree>
    <p:extLst>
      <p:ext uri="{BB962C8B-B14F-4D97-AF65-F5344CB8AC3E}">
        <p14:creationId xmlns:p14="http://schemas.microsoft.com/office/powerpoint/2010/main" val="12805311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513a8d74b492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1191F-1507-42BF-98CF-5F40D88A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CDB5C-1AE1-4257-B44B-16BA13B0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报告结构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9CE71-8045-4844-9FF9-2A5832FD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3617C-6043-4D6D-9486-8471DDB1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导入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C1070-DA64-4B78-B8B4-E6DA45B5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AD986-92E8-4F5B-B4B6-13D1060B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811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从 LOS 到 ENU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259FB-4342-44AF-A162-2B452535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764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投影系数、矩阵堆叠、秩与条件数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E8B35-6F88-4634-8931-01632729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0B0DC-08CC-42FE-8808-5EE03DF3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SM 与 VCE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D49B4-A125-42E2-996F-2ED222E8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623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局部位移梯度负责增广方程，方差分量负责组间定权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598C6-7907-4E91-8F6D-087B7AED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083C6-03C9-4892-9542-37495B3C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528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同数据双版本复现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40B00-5B5B-4961-8003-8250621B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481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original7 与 all9；MATLAB 与 Python；Python 震例参数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7AC67-2FF3-475A-B73B-ADABFCA8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D651D-4192-420A-A70D-2BC491B9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适用条件与局限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38104-CFBE-49DA-BCC0-01BBC70D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条带噪声、边界、平稳性假设和参数迁移</a:t>
            </a:r>
          </a:p>
        </p:txBody>
      </p:sp>
    </p:spTree>
    <p:extLst>
      <p:ext uri="{BB962C8B-B14F-4D97-AF65-F5344CB8AC3E}">
        <p14:creationId xmlns:p14="http://schemas.microsoft.com/office/powerpoint/2010/main" val="2625880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ea89690204c6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CC162-53FD-480A-B1A1-52B46E85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AACB1-1B01-4631-984E-9EBCD87F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方法脉络与本次材料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A43B2-FEE5-4F41-8548-93ED6497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D4842-AC46-4A95-9099-2E431C2B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文献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91F38-9E6F-4920-AC4C-F2B45729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2018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FDA35-577B-490B-81DA-C128C194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SM-VCE 方法提出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F60F1-1B86-4CE8-8890-5D002327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8595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用应变模型整合多视角 InSAR，并用方差分量估计相对精度。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58867-92BC-41B4-8B2F-ACFB5F4A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2019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125D7-85BD-45C2-96B2-C0DB478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Tottori 地震与 SM-RVCE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61B0D-2502-4316-AA9A-76AD8D54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讨论覆盖边界、粗差抑制、窗口大小和 GNSS 检验。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E8DC0-DAEC-4F4D-B093-1D1EC582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2022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5759A-E4B9-4327-914F-28C3D442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门源地震多源 SAR 联合反演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7EBF5-9A18-41F3-BA3B-9569C31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DInSAR、POT LOS、POT AZI、BOI/MAI 的联合应用。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0D4C5-329E-4B6F-8AD9-F144D5B9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本次代码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06292-2457-40C0-B1CB-33753D43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刘计洪提供的 2026.01.06 MATLAB 原版，以及本地 GitHub Python 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9AE79-F971-4A12-B731-13E16C35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Liu et al., IEEE TGRS 2018; JGR Solid Earth 2019; Remote Sensing 2022</a:t>
            </a:r>
          </a:p>
        </p:txBody>
      </p:sp>
    </p:spTree>
    <p:extLst>
      <p:ext uri="{BB962C8B-B14F-4D97-AF65-F5344CB8AC3E}">
        <p14:creationId xmlns:p14="http://schemas.microsoft.com/office/powerpoint/2010/main" val="19036137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88b14f39f49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FBCB4-FC94-4DAF-919B-BCC7D6B9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D1C37-5793-445C-BA85-F25A7E0B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多源观测的几何信息与噪声水平不同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C6422-EBC4-4A99-8819-D9A51A9B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A4F51-6B19-49D0-9493-0712A064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观测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af541b76d4001"/>
          <a:stretch xmlns:a="http://schemas.openxmlformats.org/drawingml/2006/main"/>
        </p:blipFill>
        <p:spPr>
          <a:xfrm xmlns:a="http://schemas.openxmlformats.org/drawingml/2006/main">
            <a:off x="2049817" y="1095375"/>
            <a:ext cx="4901491" cy="519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5662D-D976-4040-A4A1-B88EC2E9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81125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同一个地震，不同数据组提供的约束不同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0575B-AEAD-4EE8-B028-C1BC0C45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DInSAR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LOS 向精度较高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南北灵敏度弱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3EF0E-2B00-471A-A220-22BD908B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5762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POT / MAI / BOI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补充方位向或断层近场信息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条带与相关噪声更明显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BA3DE-FDB0-4BD8-88FD-B45FCB93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7212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联合反演首先是几何问题，同时也是定权问题。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5EA47-2E94-4C8D-9108-4756213B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图源：Liu et al., Remote Sensing 2022, Fig. 2, DOI 10.3390/rs14061404</a:t>
            </a:r>
          </a:p>
        </p:txBody>
      </p:sp>
    </p:spTree>
    <p:extLst>
      <p:ext uri="{BB962C8B-B14F-4D97-AF65-F5344CB8AC3E}">
        <p14:creationId xmlns:p14="http://schemas.microsoft.com/office/powerpoint/2010/main" val="19694955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1ecae5de54c5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090C1-7C9B-4EA8-8CCE-4582008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FB78E-BD23-4033-90E6-42F6916B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单个 LOS 像元怎样约束三维位移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FF021-645A-4A33-9B6D-8BCF877D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4EE3B-0E16-44DE-8A78-41F477E2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LOS 到 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552D1-BDAC-4051-9245-1EC3DD53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8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6A9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36A92"/>
                </a:solidFill>
                <a:latin typeface="Calibri"/>
                <a:ea typeface="Calibri"/>
                <a:cs typeface="Calibri"/>
              </a:rPr>
              <a:t>d_LOS = aE + bN + cU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50460-D8BF-4E5A-B387-422C99E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= −s·sinθ·sinα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A6B75-FD1F-4E7E-AAC8-00DFA8A7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 = −s·sinθ·cosα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CC6BA-3104-4DC3-AF24-AE56ED2F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 = cosθ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F58CA-2EFE-42F0-8152-945D48D7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θ：入射角    α：由轨道方位角换算的视线方位    s：右视为 1、左视为 −1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D1945-7EB8-4745-BD7A-83421807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[a  b  c] 是这一条观测对 [E  N  U] 的敏感方向。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EEF7B-1B96-4C0F-BD95-0FA5AB89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一条 LOS 方程只有一个标量，不能单独解出三个分量。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18D9A-1976-42B9-B479-A7C79F1E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公式与符号对应本地代码 lk_vec.m / lk_vec.py</a:t>
            </a:r>
          </a:p>
        </p:txBody>
      </p:sp>
    </p:spTree>
    <p:extLst>
      <p:ext uri="{BB962C8B-B14F-4D97-AF65-F5344CB8AC3E}">
        <p14:creationId xmlns:p14="http://schemas.microsoft.com/office/powerpoint/2010/main" val="794594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29a0fff0141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84F3F-90DE-4241-B9AC-D566ECD0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E1DC0-3C65-4DAE-AD04-EEA374E0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多条观测堆叠成一个线性方程组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06824-0FF3-4B22-8C17-973EAEEE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79CBE-1C2B-41C0-A6CC-82291294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LOS 到 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D5CE4-DB34-42BE-992F-CB25F84E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6A9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36A92"/>
                </a:solidFill>
                <a:latin typeface="Calibri"/>
                <a:ea typeface="Calibri"/>
                <a:cs typeface="Calibri"/>
              </a:rPr>
              <a:t>y = A d + 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3B7D4-D32D-480C-B46C-9AAC7E3A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142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⎡ y₁ ⎤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⎢ y₂ ⎥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⎢  ⋮  ⎥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⎣ yₘ 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9BA68-CF9D-4029-8F40-4626144F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=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DEE8A-6644-4971-B948-0265F346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⎡ a₁  b₁  c₁ ⎤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⎢ a₂  b₂  c₂ ⎥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⎢      ⋮       ⎥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⎣ aₘ  bₘ  cₘ 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A97E3-63FB-4F1C-B6B6-7AEA5CD6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⎡ E ⎤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⎢ N ⎥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⎣ U 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404E0-6BB2-4FEC-81CD-2E244327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23557-EC8A-4B60-A1AF-F83708AB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 的每一行来自一条 LOS、AZI、E、N 或 U 观测。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22875-6172-4EA7-A8CB-66A0469D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至少要 rank(A)=3；近极轨几何常使 N 列弱，条件数会放大噪声。</a:t>
            </a:r>
          </a:p>
        </p:txBody>
      </p:sp>
    </p:spTree>
    <p:extLst>
      <p:ext uri="{BB962C8B-B14F-4D97-AF65-F5344CB8AC3E}">
        <p14:creationId xmlns:p14="http://schemas.microsoft.com/office/powerpoint/2010/main" val="11665111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b64b21af1405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5338B-D6DB-4F5A-8E6E-B989482E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258C2-AC36-41C3-9EC6-BDEBC268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加权最小二乘得到 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723F5-B0A4-4031-AEC9-DD70C1EB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39479-78C5-4E6C-8EAD-C18086EF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LOS 到 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B820C-6928-4817-863E-80F75007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36A92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236A92"/>
                </a:solidFill>
                <a:latin typeface="Calibri"/>
                <a:ea typeface="Calibri"/>
                <a:cs typeface="Calibri"/>
              </a:rPr>
              <a:t>d̂ = (AᵀPA)⁻¹ AᵀPy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C4161-CE14-4924-8135-E5F863CD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AᵀPA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83D80-9C47-4BF8-8DAA-7C8F0CB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1937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法方程矩阵；几何决定可解性和误差放大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8E1DB-B99E-45D2-ADCE-76C6BA48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87C2C-1CF4-4A5B-8207-A40030FA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1950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观测权阵；理想情况下与观测方差成反比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35D51-5157-4A8B-99C0-13516047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CC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A9CCB"/>
                </a:solidFill>
                <a:latin typeface="Calibri"/>
                <a:ea typeface="Calibri"/>
                <a:cs typeface="Calibri"/>
              </a:rPr>
              <a:t>v = A d̂ − 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D82A5-9695-4BBC-9743-BEF49083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1962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残差；同时含观测误差与模型误差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6BEF3-3AE2-4DCE-81DA-9D841993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SM 改变 A 的构造，VCE 改变 P 的取值。</a:t>
            </a:r>
          </a:p>
        </p:txBody>
      </p:sp>
    </p:spTree>
    <p:extLst>
      <p:ext uri="{BB962C8B-B14F-4D97-AF65-F5344CB8AC3E}">
        <p14:creationId xmlns:p14="http://schemas.microsoft.com/office/powerpoint/2010/main" val="7386200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f6568a8804a4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BC268-C677-4CD7-BE79-C597738D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9DA74-1391-4E89-89D9-CB60227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逐像元 WLS 在覆盖边界出现跳变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F31A1-6C55-434C-ABFE-92425671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41C94-CEDD-48EA-88A0-CE926804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问题证据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1759f118f42b2"/>
          <a:stretch xmlns:a="http://schemas.openxmlformats.org/drawingml/2006/main"/>
        </p:blipFill>
        <p:spPr>
          <a:xfrm xmlns:a="http://schemas.openxmlformats.org/drawingml/2006/main">
            <a:off x="1637611" y="1143000"/>
            <a:ext cx="6630777" cy="5095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F6130-956E-4E26-96B1-7C67CB4F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573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红线：WLS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57D1D-4133-4C71-8FF3-4A34197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蓝线：SM-RVCE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66965-3136-479E-B107-FCC6190F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200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黄色区域是影像覆盖转换带。WLS 在这里出现尖峰与跳变，尤其明显地传入 N 分量。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E0F54-11BB-4DCD-A4CA-7EB7A232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238750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方程数量和权重在覆盖边界变化，解随之出现不连续。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32720-B048-4EF7-A994-C939FF4F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图源：Liu et al., JGR Solid Earth 2019, Fig. 7, DOI 10.1029/2018JB017159</a:t>
            </a:r>
          </a:p>
        </p:txBody>
      </p:sp>
    </p:spTree>
    <p:extLst>
      <p:ext uri="{BB962C8B-B14F-4D97-AF65-F5344CB8AC3E}">
        <p14:creationId xmlns:p14="http://schemas.microsoft.com/office/powerpoint/2010/main" val="5549543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2783c2cad455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ECF1B-1FD3-49E7-B24E-3B28E8BF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CAEAB-0189-40E4-B4F9-A88BF3F1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SM：用局部一阶模型描述邻域形变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2A3C3-21AE-4646-870E-256BC764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526E4-B82F-4432-9060-1FF1D75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9F30F-8D1A-4E80-BABA-BDCCA474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以目标像元 0 为中心，邻域像元 k 的位移写成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88896-7B3E-4149-ACD8-6CFD8255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6A9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236A92"/>
                </a:solidFill>
                <a:latin typeface="Calibri"/>
                <a:ea typeface="Calibri"/>
                <a:cs typeface="Calibri"/>
              </a:rPr>
              <a:t>dᵏ ≈ d⁰ + H · [Δeₖ  Δnₖ]ᵀ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95A99-D7E6-4293-95B2-26C78DB8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d⁰ = [E₀  N₀  U₀]ᵀ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51F06-D452-4824-A910-1863B9CD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0375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 = ⎡E,e  E,n⎤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⎢N,e  N,n⎥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⎣U,e  U,n⎦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080F7-C276-433B-8846-E1B28399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假设：在当前窗口内，E、N、U 随东西和南北坐标近似线性变化。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79E6D-EBDF-4DC8-993E-0F26F103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292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SM 不直接平滑结果；它把邻域位移与中心位移、局部梯度放进同一组未知数。</a:t>
            </a:r>
          </a:p>
        </p:txBody>
      </p:sp>
    </p:spTree>
    <p:extLst>
      <p:ext uri="{BB962C8B-B14F-4D97-AF65-F5344CB8AC3E}">
        <p14:creationId xmlns:p14="http://schemas.microsoft.com/office/powerpoint/2010/main" val="13705965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ff777832e461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89A50-7082-4104-8832-CB8CB8AA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F508E-FF94-4EA7-86D5-AC3162B1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SM 的一条观测怎样写进设计矩阵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C3E22-427E-4E49-952B-400A9B6F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831A0-9B66-43E0-BC55-35606205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E143D-9342-42F3-A741-B7BA32A4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85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邻域像元 k 的 LOS 观测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06098-02B2-48F2-99CF-E686E64B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A92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36A92"/>
                </a:solidFill>
                <a:latin typeface="Calibri"/>
                <a:ea typeface="Calibri"/>
                <a:cs typeface="Calibri"/>
              </a:rPr>
              <a:t>yₖ = [aₖ  bₖ  cₖ] dᵏ + vₖ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3FE2C-DFCB-4E9D-8A77-E17D1137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代入局部一阶模型后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C3192-9F20-41DD-8ED7-F1D07323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yₖ = [ a  b  c  aΔe  aΔn  bΔe  bΔn  cΔe  cΔn ]ₖ · l + vₖ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B73A1-37DB-40C6-B6A3-81570E28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 = [ E₀  N₀  U₀  E,e  E,n  N,e  N,n  U,e  U,n ]ᵀ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4C7EB-10A3-48E4-8E30-D3EE98D8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前三列决定中心 ENU；后六列吸收窗口内的线性空间变化。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047E0-96C8-4486-9D65-1D784421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列顺序已按 get_design_mat.m 与 get_design_mat.py 核对；本案例 fsmpara=2</a:t>
            </a:r>
          </a:p>
        </p:txBody>
      </p:sp>
    </p:spTree>
    <p:extLst>
      <p:ext uri="{BB962C8B-B14F-4D97-AF65-F5344CB8AC3E}">
        <p14:creationId xmlns:p14="http://schemas.microsoft.com/office/powerpoint/2010/main" val="12946328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3189ee37245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2DB8A-817A-4640-8339-6F1E036C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CA19F-BC6B-4BF2-ADED-67E04663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窗口内所有有效观测共同估计 9 个未知数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8B8D2-79A1-44BC-B7C0-0FA2C180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0AE03-0BF9-400F-A9DF-E72E722B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7E190-C427-45E5-9702-3D029474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第 i 组观测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5EEF8-3634-42EB-AB7D-6E76C0D4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Lᵢ  =  Bᵢ l + vᵢ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F3DB8-CEDA-4729-BD4E-31BF29EF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Lᵢ：kᵢ×1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C247F-69FE-4001-BE32-39E7481F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Bᵢ：kᵢ×9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2D373-E53A-4BFC-81D6-23764C36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85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把 g 组观测堆叠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39F39-D736-4552-855C-F4FA45F3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57375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 = [L₁ᵀ … Lgᵀ]ᵀ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 = [B₁ᵀ … Bgᵀ]ᵀ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1051F-765F-4909-BA2A-CD08266E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858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本次窗口 41×41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DFB70-6A9E-4879-9BEE-BF770E3B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2619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每组最多 1681 个样本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9 组最多 15129 条方程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未知数仍是 9 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DA59E-3514-488E-A431-474950BE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代码门限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433AE-2540-4174-A8A9-2FC6221E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每组有效样本 kᵢ ≥ 0.1×41² ≈ 168；中心几何 rank(Bgeo)≥3；cond(Bgeo)≤10¹⁰。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FB355-BC28-4276-8D5D-CB078046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SM 增加的是观测方程数和空间连续性约束，不会凭空增加新的观测方向。</a:t>
            </a:r>
          </a:p>
        </p:txBody>
      </p:sp>
    </p:spTree>
    <p:extLst>
      <p:ext uri="{BB962C8B-B14F-4D97-AF65-F5344CB8AC3E}">
        <p14:creationId xmlns:p14="http://schemas.microsoft.com/office/powerpoint/2010/main" val="7620652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43482f5b040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0E4C4-1D8E-4CEC-9392-6AABFB19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456F0-8624-4560-AE71-937A9A74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SM 与 VCE 的职责分工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09F4B-95BC-4BCE-8F9D-4854BE3C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5AD90-DFF8-46DB-AAB3-95DEAB66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SM + VCE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6B58C-C737-43D6-B5AA-1925849E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36A92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36A92"/>
                </a:solidFill>
                <a:latin typeface="Calibri"/>
                <a:ea typeface="Calibri"/>
                <a:cs typeface="Calibri"/>
              </a:rPr>
              <a:t>L = B_SM l + 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9B6BF-E703-4B81-BCB8-641A2618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SM：函数模型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92609-4148-47E4-88F8-F416C35F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改变 B 和未知数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使用邻域坐标差构造梯度项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解决覆盖变化、单像元方程少和解的空间连续性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AF40C-2E02-44C8-9911-45B938B3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VCE：随机模型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0EE21-C2E9-4702-B245-0E9E42A4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改变各组 Pᵢ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使用分组残差估计 σᵢ²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解决先验精度未知、不同传感器与算法噪声不一致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4F375-33BE-437C-A1D4-AD529355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SM 负责“怎么列方程”，VCE 负责“每组方程信多少”。</a:t>
            </a:r>
          </a:p>
        </p:txBody>
      </p:sp>
    </p:spTree>
    <p:extLst>
      <p:ext uri="{BB962C8B-B14F-4D97-AF65-F5344CB8AC3E}">
        <p14:creationId xmlns:p14="http://schemas.microsoft.com/office/powerpoint/2010/main" val="1060878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6f593a4584bf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58466-16AF-4EA5-B22D-7076B00D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02762-9C19-4520-AF5B-DF58288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VCE：为每个观测组建立独立方差尺度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D006-134B-428E-9173-FE6EFAC4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DFD6D-BE20-46D1-94A9-CBF500B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VCE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625AB-6EE2-4C5B-BAB6-895AD22B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6A92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36A92"/>
                </a:solidFill>
                <a:latin typeface="Calibri"/>
                <a:ea typeface="Calibri"/>
                <a:cs typeface="Calibri"/>
              </a:rPr>
              <a:t>E(vᵢ)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72EE2-055B-4DCD-B136-F5DE817B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6A92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36A92"/>
                </a:solidFill>
                <a:latin typeface="Calibri"/>
                <a:ea typeface="Calibri"/>
                <a:cs typeface="Calibri"/>
              </a:rPr>
              <a:t>Cov(vᵢ) = σᵢ² Pᵢ⁻¹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467E7-37C8-4F9C-B48F-98A233D6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CC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A9CCB"/>
                </a:solidFill>
                <a:latin typeface="Calibri"/>
                <a:ea typeface="Calibri"/>
                <a:cs typeface="Calibri"/>
              </a:rPr>
              <a:t>Pᵢ⁽⁰⁾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6C25F-814C-4187-BF25-D2416618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组内先验权；本次多数情况下从单位阵开始。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4059B-3A94-413C-A9B9-30C0E236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533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E5332A"/>
                </a:solidFill>
                <a:latin typeface="Calibri"/>
                <a:ea typeface="Calibri"/>
                <a:cs typeface="Calibri"/>
              </a:rPr>
              <a:t>σᵢ²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53BE9-F42B-4932-825F-E7403D95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第 i 组的单位权方差分量，由残差与自由度共同估计。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4D6AD-B519-4F88-B7AF-D335BB5F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CC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A9CCB"/>
                </a:solidFill>
                <a:latin typeface="Calibri"/>
                <a:ea typeface="Calibri"/>
                <a:cs typeface="Calibri"/>
              </a:rPr>
              <a:t>Pᵢ⁽¹⁾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23A9D-E2BD-44AC-964A-9014052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更新后的组间相对权；σᵢ² 大的观测组权重降低。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CFF46-3352-44CD-B8CC-E357EF8F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150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这里估计的是观测组尺度，不是逐像元噪声图。</a:t>
            </a:r>
          </a:p>
        </p:txBody>
      </p:sp>
    </p:spTree>
    <p:extLst>
      <p:ext uri="{BB962C8B-B14F-4D97-AF65-F5344CB8AC3E}">
        <p14:creationId xmlns:p14="http://schemas.microsoft.com/office/powerpoint/2010/main" val="12570815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8df3f16474f3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A8F2E-11C2-4D1E-BFAD-D42165B0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A9B53-BF8C-4659-9BD5-2986C7E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VCE 从分组残差中估计方差分量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BD252-E6E9-48C5-9B7E-9531E796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8F94D-07DB-4612-B341-1F3BF59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VCE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E2081-F80B-4DC7-96FA-237B8186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38250"/>
            <a:ext cx="1133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Nᵢ = BᵢᵀPᵢBᵢ      N = ΣNᵢ      l̂ = N⁺ΣBᵢᵀPᵢLᵢ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ABD28-E565-4F2D-8427-8E5BD333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6A9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36A92"/>
                </a:solidFill>
                <a:latin typeface="Calibri"/>
                <a:ea typeface="Calibri"/>
                <a:cs typeface="Calibri"/>
              </a:rPr>
              <a:t>vᵢ = Bᵢl̂ − Lᵢ      Wᵢ = vᵢᵀPᵢvᵢ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41637-D47A-4E11-8060-2138E0FA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5332A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E5332A"/>
                </a:solidFill>
                <a:latin typeface="Calibri"/>
                <a:ea typeface="Calibri"/>
                <a:cs typeface="Calibri"/>
              </a:rPr>
              <a:t>σ̂² = S⁺W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DE924-F5D2-4076-BD2D-1272ED60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ED3A7-B014-4CF3-8B56-435D5CA3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各组加权残差平方和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FF13D-829B-4C9D-A189-A64688A5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25A8C-79DD-4D3D-B6D9-A7414E7B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由样本数 kᵢ、N⁺ 和 Nᵢ 的迹构成，校正不同组对参数估计的贡献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D1884-A435-419D-9B28-D95347DF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Pᵢ⁽¹⁾ = (σ̂₁² / σ̂ᵢ²) Pᵢ⁽⁰⁾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23DB9-4B36-4D1C-B62C-D3970B8A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1975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1 组只作为相对权基准；绝对尺度不影响加权解。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F2C72-8976-4D80-8DA4-21EBF863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Liu et al., JGR Solid Earth 2019, Eqs. 10–13；SMVCE_vce.m 中 getsita / getP</a:t>
            </a:r>
          </a:p>
        </p:txBody>
      </p:sp>
    </p:spTree>
    <p:extLst>
      <p:ext uri="{BB962C8B-B14F-4D97-AF65-F5344CB8AC3E}">
        <p14:creationId xmlns:p14="http://schemas.microsoft.com/office/powerpoint/2010/main" val="38286968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56b17a0514d8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53247-84E0-4423-9E56-CD7833CF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69CDD-253F-4F3B-B860-2A1D4901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原版代码实际执行两次 VCE 求解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16313-A752-413E-AD9F-A197DAB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6608D-6FA3-41F6-998A-5C646C26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代码事实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05A6B-3770-4DF3-B9BF-FB09B95C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第一次 getsita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7520D-75E8-4CDF-AC99-81FA3EB4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用初始 P 求 l̂、vᵢ、W 和 σ̂ᵢ²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A4017-978D-47FE-9232-D28782B9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权重更新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45D07-161A-43E9-AF84-98B5D970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负方差先取 abs；Pᵢ = (σ̂₁²/σ̂ᵢ²)Pᵢ⁰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255CD-B743-4441-958B-73C379D7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第二次 getsita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C3501-9B4A-4447-B6F1-4E50F3B9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用更新权重再次求 l̂ 和 σ̂ᵢ²，然后输出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AF8C9-EE80-4276-B98E-9512B8D9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论文中的迭代收敛判据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3DFDB-CFCF-4211-A6CC-3AF0CD32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max(σ̂²) − min(σ̂²) ≤ ε²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03FFB-A412-4F3C-AB5E-D5B7A47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33750"/>
            <a:ext cx="4381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当前 MATLAB 原版中 while 循环被注释，因此演示结果应解释为一次重定权后的两阶段实现，不应说成完全迭代收敛。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1DB7A-BBFD-451C-9873-8A084F5B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代码依据：02_MATLAB原版/.../SMVCE_vce.m；Python 版保持同一逻辑</a:t>
            </a:r>
          </a:p>
        </p:txBody>
      </p:sp>
    </p:spTree>
    <p:extLst>
      <p:ext uri="{BB962C8B-B14F-4D97-AF65-F5344CB8AC3E}">
        <p14:creationId xmlns:p14="http://schemas.microsoft.com/office/powerpoint/2010/main" val="112038534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6efb62764472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1510A-396F-4270-A5B8-C7EDECE5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7231B-F198-4B43-AF7F-263EC37B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每个目标像元的计算顺序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FB413-ECEA-49CF-8B2D-BFA1C492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18B1D-E6E7-4C0A-B440-DD8C7623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算法流程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103FF-55C5-477A-8560-8D25D732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1 取窗口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6BC12-D0EF-4587-9D24-460500B9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952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按目标像元截取邻域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筛选有效点和断层同侧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F453B-1D48-435D-AE91-F65DC9F4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171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49466-9DC4-467D-BE8D-910E181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66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2 建方程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5E169-A023-49D3-8D00-160EBEE3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86000"/>
            <a:ext cx="1952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计算 a,b,c 与 Δe,Δn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形成各组 Bᵢ、Lᵢ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B1800-D492-4B27-B13A-0ADB5A09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171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F27EE-929D-4D38-84C0-CFE2855B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66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3 初始解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8DDAC-7741-4A8D-BB16-A5DA3306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86000"/>
            <a:ext cx="1952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检查样本数、秩、条件数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求 l̂⁰ 与分组残差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A8635-57DA-4328-91AF-1350F4E9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171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D1C5A-B62F-45B7-B7AE-2CF1595E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66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4 VCE 定权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D239F-F1C5-49AA-B068-AA8868CF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1952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由 S⁺W 得到 σ̂ᵢ²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更新各组 Pᵢ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BD018-5280-42BF-81FB-DB4BA357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71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9B70F-48FE-4DFB-8A3E-A175263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66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5 第二次求解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751A2-848F-4E39-ADE1-8AAEE6C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86000"/>
            <a:ext cx="1952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求 l̂¹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保存 ENU、梯度、sita 与精度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44130-AE57-4EE9-978F-2E52524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006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失败像元返回 NaN 或跳过：有效组不足、rank 不足、cond 过大、法方程异常。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6E9F7-B75F-4C78-B11F-F6DAE745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15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整幅影像逐像元重复，因此窗口大小直接控制计算量。</a:t>
            </a:r>
          </a:p>
        </p:txBody>
      </p:sp>
    </p:spTree>
    <p:extLst>
      <p:ext uri="{BB962C8B-B14F-4D97-AF65-F5344CB8AC3E}">
        <p14:creationId xmlns:p14="http://schemas.microsoft.com/office/powerpoint/2010/main" val="207509458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d1e75f772417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0BAF9-CEF3-4035-9499-995615A9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6B064-A8AF-4B6A-8DE2-8B81E193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窗口大小在冗余、局部性与计算量之间折中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1D87E-BAEF-4CDA-A347-88F88BD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41275-754D-4A16-9514-30261727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参数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50d24c02549ef"/>
          <a:stretch xmlns:a="http://schemas.openxmlformats.org/drawingml/2006/main"/>
        </p:blipFill>
        <p:spPr>
          <a:xfrm xmlns:a="http://schemas.openxmlformats.org/drawingml/2006/main">
            <a:off x="997574" y="1190625"/>
            <a:ext cx="6482103" cy="4905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26901-23BB-4A10-BD97-7FC495A1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窗口过小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588BC-B40F-4A5A-A865-2D5DDD1E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样本不足，北向分量尤其不稳定。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49F7C-AE6B-4205-A572-3F4856CB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窗口适中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8342A-1867-4224-867A-3C4C97E7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论文曲线在约 15–25 像元附近误差较低。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1C94B-8ABF-46DB-8BD9-64B4BBA5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196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窗口过大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A3D04-DF81-4554-98C3-74A5B398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958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局部线性假设变差，计算时间快速上升。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BC1A7-7415-4384-8E39-C76F0B34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图源：Liu et al., JGR Solid Earth 2019, Fig. 4</a:t>
            </a:r>
          </a:p>
        </p:txBody>
      </p:sp>
    </p:spTree>
    <p:extLst>
      <p:ext uri="{BB962C8B-B14F-4D97-AF65-F5344CB8AC3E}">
        <p14:creationId xmlns:p14="http://schemas.microsoft.com/office/powerpoint/2010/main" val="98280916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0680ddd444cd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140FE-7CD8-4932-BF35-328D37FB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77E83-BF78-4397-963E-0F55524C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论文结果同时检查观测、模型与残差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0B53F-590E-4936-9C5E-51173FD3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3ED42-7082-4BCA-B2EA-A89013F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论文证据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12275033147c5"/>
          <a:stretch xmlns:a="http://schemas.openxmlformats.org/drawingml/2006/main"/>
        </p:blipFill>
        <p:spPr>
          <a:xfrm xmlns:a="http://schemas.openxmlformats.org/drawingml/2006/main">
            <a:off x="1412298" y="1095375"/>
            <a:ext cx="6795655" cy="519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1C133-6E42-41D1-9EDB-BBBEBEF5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28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三列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71463-D8D8-44AC-B26D-0AB035A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050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East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North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7D1EB-F327-4B5B-B882-0D99CAE5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三行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856FA-6DFD-4A7A-97D8-A82122FF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62375"/>
            <a:ext cx="2000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反演观测场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局部模型场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残差场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BEE0E-8687-4DE0-B69E-8081889C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8637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残差不是越小越好；还要检查是否保留系统条带或断层近场结构。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DF0FA-4DB5-4D8F-B734-166E7060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图源：Liu et al., JGR Solid Earth 2019, Fig. 3</a:t>
            </a:r>
          </a:p>
        </p:txBody>
      </p:sp>
    </p:spTree>
    <p:extLst>
      <p:ext uri="{BB962C8B-B14F-4D97-AF65-F5344CB8AC3E}">
        <p14:creationId xmlns:p14="http://schemas.microsoft.com/office/powerpoint/2010/main" val="143571434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21ebbca1a4d2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CEF2E-E6BD-4181-9DC8-A4B8ABD2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38DAE-E111-426B-8A0C-87C9FA3F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论文使用 GNSS 对三维结果做外部检验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73C24-54F8-41FC-8269-E8258B9A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978F9-362B-4DF5-8C32-5268FC7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论文证据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624c849994376"/>
          <a:stretch xmlns:a="http://schemas.openxmlformats.org/drawingml/2006/main"/>
        </p:blipFill>
        <p:spPr>
          <a:xfrm xmlns:a="http://schemas.openxmlformats.org/drawingml/2006/main">
            <a:off x="1406752" y="1143000"/>
            <a:ext cx="4901746" cy="5095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338C9-7177-4E5B-BE08-4AA9B7A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76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Tottori 案例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278B8-DA31-4A25-AD05-9A0AEFDC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East RMSE = 0.4 cm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North RMSE = 1.7 cm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Up RMSE = 0.4 cm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6065B-CF66-4E69-9E92-DED3E1BF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005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北向误差仍最大，与近极轨 LOS 的南北弱敏感性一致。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0AE15-8253-49A3-BB37-1B475878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91125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本次本地实验没有独立 GNSS 真值，因此双版本一致性不等于绝对正确。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C364D-FC0A-4D60-AF61-A2BC2EA5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图源：Liu et al., JGR Solid Earth 2019, Fig. 6</a:t>
            </a:r>
          </a:p>
        </p:txBody>
      </p:sp>
    </p:spTree>
    <p:extLst>
      <p:ext uri="{BB962C8B-B14F-4D97-AF65-F5344CB8AC3E}">
        <p14:creationId xmlns:p14="http://schemas.microsoft.com/office/powerpoint/2010/main" val="184119808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37dd607f84ca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A625B-9B54-4E31-8CDF-CDD035FE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ACE6E-D5F0-4109-A961-BDD12BC7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本次震例包含 9 组观测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1BFDD-16FB-4DE5-BF78-C73FF4B1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F3C42-4A30-4000-83DF-09331A7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本地数据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190625"/>
          <a:ext xmlns:a="http://schemas.openxmlformats.org/drawingml/2006/main" cx="7143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3238500"/>
                <a:gridCol w="1333500"/>
                <a:gridCol w="1524000"/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original7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As T128 DInSAR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As T128 POT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As T128 POT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AZI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排除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Des DInSAR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Des POT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Des POT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AZI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排除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ALOS-2 DInSAR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ALOS-2 Des POT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AZI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ALOS-2 Des MAI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AZI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D975B-7C4E-4E6A-8058-BD2D359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original7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39525-7459-4175-8A48-E9AF63C5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排除编号 3、6 的 Sentinel-1 POT-AZI。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98846-0B34-4446-8366-949079A5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all9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03A61-9D79-4FB2-8BC1-1802204C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加入两组 POT-AZI，用同一整景、同一窗口定量比较；是否改善由结果决定。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8D01D-F960-4CAC-8588-4DF6C001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配置来源：MATLAB DATA.mat 与 Python data_information.txt；观测编号影响 --exclude-obs 和 sita</a:t>
            </a:r>
          </a:p>
        </p:txBody>
      </p:sp>
    </p:spTree>
    <p:extLst>
      <p:ext uri="{BB962C8B-B14F-4D97-AF65-F5344CB8AC3E}">
        <p14:creationId xmlns:p14="http://schemas.microsoft.com/office/powerpoint/2010/main" val="123268323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d6593581743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49DA3-C4D5-45AD-8D4B-214B4489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7878C-80EB-4DE6-83B0-6F5479E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实验设计：科学结果全部使用整景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D4597-6347-49A6-8793-0A0B56B7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9EAB5-1609-436F-AE51-9756DB97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本地实验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12F6A-147A-47AF-8A76-9648DD6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固定条件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6DBA0-2FF6-408A-AF26-C7C617B8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1027×1373 整景（1,410,071 像元）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窗口 41×41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fsmpara = 2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相同的 9 组输入文件与几何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相同的 original7 / all9 划分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A1D82-E642-421C-9D08-8047000A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比较一：观测集合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56E60-3685-42D7-8EF2-43F5884A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original7 与 all9 的 ENU 差值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MATLAB 和 Python 分别运行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3D6DE-36BA-4189-B1A2-8F6C83E4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比较二：语言实现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AD788-5D7C-40F1-A612-F9E16585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4619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MATLAB 原版整景为严格参考；Python 整景为 GPU 预览，另用已验证 CPU ROI 核对代码逻辑。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F0891-A0CA-4A40-B7AD-86CBDA4B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7212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ROI 只用于 20 分钟现场演示，不再承担科学结论。</a:t>
            </a:r>
          </a:p>
        </p:txBody>
      </p:sp>
    </p:spTree>
    <p:extLst>
      <p:ext uri="{BB962C8B-B14F-4D97-AF65-F5344CB8AC3E}">
        <p14:creationId xmlns:p14="http://schemas.microsoft.com/office/powerpoint/2010/main" val="97829535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9355d008947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296C0-19E8-4E0E-8D8B-32165FDC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37A03-FE99-4CDD-8705-86E7FE7F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VCE 对 9 组观测给出不同方差尺度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004E3-20CA-41F9-8D66-51D02DA4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F1C79-B067-4B51-95C8-B3A4D5F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本地结果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57250" y="1190625"/>
          <a:ext xmlns:a="http://schemas.openxmlformats.org/drawingml/2006/main" cx="6667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857500"/>
                <a:gridCol w="2952750"/>
              </a:tblGrid>
              <a:tr h="4810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MATLAB sita 中位数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sita 中位数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2.075e-5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1.604e-5</a:t>
                      </a: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1.731e-3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1.734e-3</a:t>
                      </a: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1.775e-3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7.567e-4</a:t>
                      </a: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1.117e-4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1.109e-4</a:t>
                      </a: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1.774e-3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1.771e-3</a:t>
                      </a: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1.772e-3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7.870e-4</a:t>
                      </a: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4.117e-4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4.152e-4</a:t>
                      </a: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1.320e-3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5.224e-4</a:t>
                      </a: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8.632e-4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1.578e-5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95D0A-C1B0-4407-A818-0DD42072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整景统计，不再用 61×101 ROI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5BB27-F232-4870-A357-2B817646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每个数值都是 1,410,071 像元范围内该观测组 sita 的中位数。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39BDB-02A2-4908-90B4-51111E30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MATLAB 列含完整断层跨侧同质点选择；Python 列来自 GPU 预览，主要核对量级与排序。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C0749-23BE-4F1C-800F-29961B32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768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sita 不是原始数据标准差；它同时受观测误差、模型失配和覆盖条件影响。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40383-20AD-40D2-97A1-8383C09C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本机整景实跑：04_运行结果/15_整景定量对比/full_scene_vce_medians.csv</a:t>
            </a:r>
          </a:p>
        </p:txBody>
      </p:sp>
    </p:spTree>
    <p:extLst>
      <p:ext uri="{BB962C8B-B14F-4D97-AF65-F5344CB8AC3E}">
        <p14:creationId xmlns:p14="http://schemas.microsoft.com/office/powerpoint/2010/main" val="17701016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66c6bd674490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52EC3-1E8E-4DC2-AB8A-2FF81881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AC697-D8B0-40F6-9185-43A6D67A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原版整景：加入两组 POT-AZI 后改变了什么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C8250-14BB-41F7-92CE-221309C2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2F75F-A05B-450C-92B8-925D303A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本地结果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ff9590036429b"/>
          <a:stretch xmlns:a="http://schemas.openxmlformats.org/drawingml/2006/main"/>
        </p:blipFill>
        <p:spPr>
          <a:xfrm xmlns:a="http://schemas.openxmlformats.org/drawingml/2006/main">
            <a:off x="1478626" y="1143000"/>
            <a:ext cx="6472499" cy="5143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58BE6-D92E-4418-8422-9A16F0BB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左列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78FED-AAF3-418F-9560-18EF76B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original7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C2FAE-06D3-4AA7-8903-A132CAA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中列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317EA-14F2-4DDB-82C6-AD022C6F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all9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A3689-6056-486C-97FD-2465E41B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右列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F0873-4951-4A30-8F5B-7E19AB7F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9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all9 − original7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03DD3-EDE1-4257-9E59-3E919EE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86375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右列直接显示整景影响，条带与块状结构以结果为准。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750EC-2F58-4128-B546-1B786B4B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本机 MATLAB 原版实跑；1027×1373 整景、窗口 41、完整 fault.xy</a:t>
            </a:r>
          </a:p>
        </p:txBody>
      </p:sp>
    </p:spTree>
    <p:extLst>
      <p:ext uri="{BB962C8B-B14F-4D97-AF65-F5344CB8AC3E}">
        <p14:creationId xmlns:p14="http://schemas.microsoft.com/office/powerpoint/2010/main" val="53541487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1d58cd27e455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EBF64-9B03-41BF-8B5C-6DA06525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9423E-2003-4D1E-B08E-1135E8FD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Python GPU 整景预览与原版：只做形态核对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5A8A9-BF6B-4918-AE95-EE5A0FA2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E3EC5-D896-4F94-95CA-82AB7549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双版本复现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7339e6c724ff4"/>
          <a:stretch xmlns:a="http://schemas.openxmlformats.org/drawingml/2006/main"/>
        </p:blipFill>
        <p:spPr>
          <a:xfrm xmlns:a="http://schemas.openxmlformats.org/drawingml/2006/main">
            <a:off x="1597688" y="1143000"/>
            <a:ext cx="6472499" cy="5143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F7F9B-94C4-4D32-9051-EEE1F110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571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左列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A143E-CB3B-4777-96DE-CBBD24E2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95262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MATLAB 原函数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833D7-C5F5-403F-ABCF-D957140E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00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中列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938B7-2E0B-4CBA-BF63-C0A1D580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813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Python 移植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FF44A-96B0-47C2-BC0C-4D30AF7B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33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右列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1C067-609C-4109-8071-017E9EF3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714875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Python − MATLAB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98% 分位色阶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00CE5-8D15-4A94-B8B7-0101A3A1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5721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GPU 预览关闭跨断层窗口剔除，差值含算法配置差异。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C648D-6129-452C-B7E4-2E8904BD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本机整景实跑；MATLAB 原版为严格参考，Python 为 GPU 预览</a:t>
            </a:r>
          </a:p>
        </p:txBody>
      </p:sp>
    </p:spTree>
    <p:extLst>
      <p:ext uri="{BB962C8B-B14F-4D97-AF65-F5344CB8AC3E}">
        <p14:creationId xmlns:p14="http://schemas.microsoft.com/office/powerpoint/2010/main" val="83401965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9a9dc27b24e0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B1D97-3FE9-4BD1-A30E-CC9171DD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6638C-41BD-4267-A507-4BA2D013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整景定量：观测集合影响与实现差异分开报告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87083-AD95-4702-A7D5-C20FB57B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89369-9919-4E5A-90B1-9BC08C3B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定量比较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28625" y="1238250"/>
          <a:ext xmlns:a="http://schemas.openxmlformats.org/drawingml/2006/main" cx="113347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57250"/>
                <a:gridCol w="1905000"/>
                <a:gridCol w="1809750"/>
                <a:gridCol w="1809750"/>
                <a:gridCol w="1714500"/>
              </a:tblGrid>
              <a:tr h="45583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分量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中位 |差|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MAE (m)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RMSE (m)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corr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原版 all9 − original7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mm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0.0044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0.0096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0.9991</a:t>
                      </a: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原版 all9 − original7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8.9 mm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0.0282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0.0726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0.8664</a:t>
                      </a: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原版 all9 − original7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mm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0.0050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0.0110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0.9786</a:t>
                      </a: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预览 − 原版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&lt;0.01 mm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0.0062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0.0608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0.9640</a:t>
                      </a: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预览 − 原版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&lt;0.01 mm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0.0021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0.0187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0.9910</a:t>
                      </a: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预览 − 原版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&lt;0.01 mm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0.0020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0.0200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0.9250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DF34F-1C47-4C85-AAD2-FBC64258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上三行：回答观测选择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78ADD-7FF3-44C7-B6EB-954E45A6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同一原版代码，只改变是否加入第 3、6 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55692-0183-4B01-AF19-086B807D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下三行：只做预览核对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4D1F8-9E36-4B80-80A0-C1B7748C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含关闭断层跨侧窗口剔除的配置差异，不能当作移植精度。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17A17-E53E-4383-81C7-A507787C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10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有效网格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1867F-B207-4EEB-A420-34352186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38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1027×1373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1,410,071 像元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E0816-8666-43E6-B050-73BB350B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本机整景实跑：full_scene_comparison_metrics.csv；中位差与 RMSE 联合解读</a:t>
            </a:r>
          </a:p>
        </p:txBody>
      </p:sp>
    </p:spTree>
    <p:extLst>
      <p:ext uri="{BB962C8B-B14F-4D97-AF65-F5344CB8AC3E}">
        <p14:creationId xmlns:p14="http://schemas.microsoft.com/office/powerpoint/2010/main" val="210832554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0c74ba42344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9D075-817F-4889-8AAF-78BC050C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5B353-D7AD-4FD6-BD87-1846E49C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Python 震例处理：从反演结果派生，不改通用公式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B3A08-0808-4F84-8E79-31B0BAA2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731BC-9F6D-4099-AC3F-102BA9A9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Python 修正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14327-0D6B-40E9-AA3E-1B85222F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本次整景预览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5C9A4-77F0-4040-A0EF-DD56FA69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4000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1027×1373 全尺寸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window = 41，fsmpara = 2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GPU 批次 4 行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original7 / all9 均实际运行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仅预览关闭断层跨侧窗口剔除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844aefa81477f"/>
          <a:stretch xmlns:a="http://schemas.openxmlformats.org/drawingml/2006/main"/>
        </p:blipFill>
        <p:spPr>
          <a:xfrm xmlns:a="http://schemas.openxmlformats.org/drawingml/2006/main">
            <a:off x="4762500" y="1889447"/>
            <a:ext cx="6905625" cy="226948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E2969-961C-4E8B-B2BD-FDE9B4C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震例后处理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8B011-0158-4C4D-AD89-5EB882D9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24375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检查 all9 的 N-S |值|&gt;1 m：本次整景命中 0 像元；展示图边缘腐蚀 15 像元。这个负结果也保留，不回写 GitHub。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54FD8-A57B-4409-9A3F-4025592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762625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每个震例仍需按分辨率、断层几何、缺测和条带噪声重新设参。</a:t>
            </a:r>
          </a:p>
        </p:txBody>
      </p:sp>
    </p:spTree>
    <p:extLst>
      <p:ext uri="{BB962C8B-B14F-4D97-AF65-F5344CB8AC3E}">
        <p14:creationId xmlns:p14="http://schemas.microsoft.com/office/powerpoint/2010/main" val="153832631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f193c3d2848b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EE24A-AD13-413B-87A1-CED55001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36784-EE42-4ADC-91CE-245C7D6E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方法的优势与限制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DC82-D2E8-47F5-944D-B080D2E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51A18-1C4B-4A92-AD3E-643663AB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批判性评价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4A8D7-DA45-4821-A424-DFF1F9D0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有效之处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3D51F-58CF-4AED-A3B6-0DF6BF38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4667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邻域增广缓解覆盖边界的突变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VCE 从数据中估计组间相对权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输出梯度、方差分量和精度，便于诊断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可整合 LOS、AZI 与直接 ENU 观测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690C9-30AD-4071-820B-BA51EAD9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2858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需要谨慎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D0790-A783-48FC-AAD6-491C424D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局部线性假设可能跨断层失效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组级方差不能消除组内相关条带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方差分量混合了观测误差与模型误差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当前原版只做一次重定权，且对负值取绝对值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参数与后处理不能直接跨震例迁移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263F3-74EE-43C2-BE22-AEE02BFB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可信使用方式：保存观测组、窗口、掩膜、sita、残差与边界差值图，联合报告。</a:t>
            </a:r>
          </a:p>
        </p:txBody>
      </p:sp>
    </p:spTree>
    <p:extLst>
      <p:ext uri="{BB962C8B-B14F-4D97-AF65-F5344CB8AC3E}">
        <p14:creationId xmlns:p14="http://schemas.microsoft.com/office/powerpoint/2010/main" val="158437784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1b8fc850643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8E278-02BA-41F9-888A-F63B3AD0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5050A-8AFD-4023-8CC0-74DEA9C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DCEFA-98F8-4F23-AC86-2CF51113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38B6F-7E26-452C-83D1-1A11203F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正文结束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32776-293A-4E1D-B6D3-A9993404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SM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8FC5E-DA52-4F95-A12A-930780E0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335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把窗口内观测写入 9 参数局部模型，增加方程冗余并缓和覆盖边界。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0B636-8C0C-4396-80C3-1C5604AC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VCE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51B0A-E658-4DFF-9B7F-8E1ACAAF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用分组残差估计方差尺度，再调整各组相对权重；它不是去条带算法。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DA6D8-9167-4690-8B3E-15E8F147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A9CC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4A9CCB"/>
                </a:solidFill>
                <a:latin typeface="微软雅黑"/>
                <a:ea typeface="微软雅黑"/>
                <a:cs typeface="微软雅黑"/>
              </a:rPr>
              <a:t>复现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EE1BE-54FF-4E14-A197-AD024807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100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MATLAB 原版整景给出严格参考；Python GPU 整景预览用于形态与覆盖核对。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4F09A-3039-4EAF-B128-1E292155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观测选择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1B973-8D88-48AB-8B41-AF481C69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482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原版 all9 对 N 影响最强（MAE 28.2 mm），E/U 约 4–5 mm；局部 ROI 不能替代整景结论。</a:t>
            </a:r>
          </a:p>
        </p:txBody>
      </p:sp>
    </p:spTree>
    <p:extLst>
      <p:ext uri="{BB962C8B-B14F-4D97-AF65-F5344CB8AC3E}">
        <p14:creationId xmlns:p14="http://schemas.microsoft.com/office/powerpoint/2010/main" val="109048359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e0cd05f6b4cb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B00CD-6583-47BD-B7F7-E622FB21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4D42E-1DD0-4332-A963-561C11B8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程序演示顺序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389A9-458E-4A51-BBAB-377E36F2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13FA1-A267-43A7-BDDC-5788C1D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演示 20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80022-6DC1-4BA2-A65F-34882A33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0–3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FDE3C-F631-4A33-BFA5-069F277C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查看目录、data_information 和 9 组观测编号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99646-DAD7-4E37-B041-5BFCA8CA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3–10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D543A-B524-4D8B-BC43-27F42243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运行 MATLAB original7，再运行 all9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937C0-E95A-429F-82AB-17B16F5F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10–17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82A57-EAF9-42D3-BBF1-F14FBDFA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766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运行 Python original7 / all9 / tuned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FCA2C-95C6-4C4B-A730-6943C36A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17–20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B942F-B0C4-414C-ACF8-D4B09F8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243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打开三张对比图，解释条带、边界和定量指标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C85E3-54B7-481A-A001-715EF7E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197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正文展示整景结果；现场只运行已验证的 61×101 ROI，以满足 20 分钟演示预算。</a:t>
            </a:r>
          </a:p>
        </p:txBody>
      </p:sp>
    </p:spTree>
    <p:extLst>
      <p:ext uri="{BB962C8B-B14F-4D97-AF65-F5344CB8AC3E}">
        <p14:creationId xmlns:p14="http://schemas.microsoft.com/office/powerpoint/2010/main" val="187447139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5597503bf477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E531B-6491-4336-9753-D928B9AF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8004E-733E-4D8A-AC41-252AF96B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MATLAB 原版运行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18574-B323-41C2-9542-990EB6E9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3C2D8-1465-4E12-986C-77383055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798B8-3635-47B8-A4B0-DF6DAE87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cd('E:\#Post\2026.09.04 今日组会\02_MATLAB原版')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run_groupmeeting_experiment('original7',[390 450 650 750],'..\04_运行结果\现场_MATLAB_original7')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run_groupmeeting_experiment('all9',[390 450 650 750],'..\04_运行结果\现场_MATLAB_all9')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DC8DB-DA9E-4663-8CBA-0F8F3E5D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演示时检查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291BC-D801-4E4F-BAD1-CD211398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1. DATA.mat 是否生成在新工作目录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2. original7 是否排除 3、6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3. SMVCE_vce.m 是否给出 sita 与 P_vce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4. ENU、sita、m_obs 是否完整保存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29ECB-875C-45ED-8639-C4286CAB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原目录只读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C6B3E-7764-4083-9DD4-9FC7DB31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352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包装脚本复制配置并把结果写入今日组会目录；不修改刘计洪提供的核心函数。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55C11-BDCB-48D2-8C2E-2E843609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入口：02_MATLAB原版/run_groupmeeting_experiment.m</a:t>
            </a:r>
          </a:p>
        </p:txBody>
      </p:sp>
    </p:spTree>
    <p:extLst>
      <p:ext uri="{BB962C8B-B14F-4D97-AF65-F5344CB8AC3E}">
        <p14:creationId xmlns:p14="http://schemas.microsoft.com/office/powerpoint/2010/main" val="115135330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06dd0f4b849c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0D6D4-43E0-430D-AB64-C06C9477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FC769-AD46-4A30-A571-7DE597BF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Python 版运行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060EE-5379-410D-8724-6B8B6279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1530F-E18E-482F-AD7B-24036B5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6A064-8C4D-43DB-8BBD-5BD6A3ED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1095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cd 'E:\#Post\2026.09.04 今日组会\03_Python版\smvce_tjz'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$data='E:\#Post\2026.09.04 今日组会\02_MATLAB原版\SMVCE_MATLAB_原版\SMVCE_DATA'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python smvce_main.py -d $data -w 41 --roi 390 450 650 750 --exclude-obs 3,6 --no-wls --no-cuda --no-grd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python smvce_main.py -d $data -w 41 --roi 390 450 650 750 --no-wls --no-cuda --no-grd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# tuned 另加 --ns-output-clip 1 --figure-erode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CB558-0971-46EC-86AC-0F0983D1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CPU 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883F2-FAE6-4146-875A-37E9F659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与 MATLAB 逻辑最接近，便于逐步核对。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792F1-C3CC-4091-997E-029193F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GPU 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B687F-7182-4167-818F-12C31F1F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仅在固定窗口、无 fault / SMAD / 自适应窗等条件满足时启用。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45117-B58F-4F89-A928-98C96568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721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E5332A"/>
                </a:solidFill>
                <a:latin typeface="微软雅黑"/>
                <a:ea typeface="微软雅黑"/>
                <a:cs typeface="微软雅黑"/>
              </a:rPr>
              <a:t>tuned 是当前震例的工程配置，不作为跨震例默认方案。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31FC0-1E7E-4694-9195-5451AB64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入口：03_Python版/smvce_tjz/smvce_main.py；环境见 requirements 与运行指南</a:t>
            </a:r>
          </a:p>
        </p:txBody>
      </p:sp>
    </p:spTree>
    <p:extLst>
      <p:ext uri="{BB962C8B-B14F-4D97-AF65-F5344CB8AC3E}">
        <p14:creationId xmlns:p14="http://schemas.microsoft.com/office/powerpoint/2010/main" val="81528658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f921cf305464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EF1F1-3D64-45C3-AC3A-4062EE7D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A635D-99C3-4444-8AC4-C25A9F90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现场检查与常见故障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70A85-2AF3-4CBD-9AC1-901D72F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2FBAB-D0E2-4CA5-A89A-EA2337D3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演示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23875" y="1285875"/>
          <a:ext xmlns:a="http://schemas.openxmlformats.org/drawingml/2006/main" cx="11144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714750"/>
                <a:gridCol w="4953000"/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优先检查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</a:t>
                      </a: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大量 NaN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有效样本、rank、cond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几何或覆盖门限未通过</a:t>
                      </a:r>
                    </a:p>
                  </a:txBody>
                  <a:tcPr marL="76200" marR="76200" marT="47625" marB="47625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 分量异常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AZI 观测、方位角、左右视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北向主要依赖弱几何或方位向</a:t>
                      </a:r>
                    </a:p>
                  </a:txBody>
                  <a:tcPr marL="76200" marR="76200" marT="47625" marB="47625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sita 极端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组编号、掩膜、残差与负值处理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方差分量也会吸收模型误差</a:t>
                      </a:r>
                    </a:p>
                  </a:txBody>
                  <a:tcPr marL="76200" marR="76200" marT="47625" marB="47625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边界差异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索引、窗口、NaN 与伪逆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主体一致不代表边界实现完全相同</a:t>
                      </a:r>
                    </a:p>
                  </a:txBody>
                  <a:tcPr marL="76200" marR="76200" marT="47625" marB="47625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未启用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fault、SMAD、自适应窗、fsmpara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不满足快速路径条件时自动回到 CPU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4A4D2-DAEA-4A6E-9195-2D040886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演示验收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C23C0-F985-40B0-A016-B0E6E626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86375"/>
            <a:ext cx="833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命令退出码为 0；输出文件存在；ENU 与 sita 尺寸正确；对比图能打开；original7/all9 配置被保存。</a:t>
            </a:r>
          </a:p>
        </p:txBody>
      </p:sp>
    </p:spTree>
    <p:extLst>
      <p:ext uri="{BB962C8B-B14F-4D97-AF65-F5344CB8AC3E}">
        <p14:creationId xmlns:p14="http://schemas.microsoft.com/office/powerpoint/2010/main" val="129386737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7c09ccb904bb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3D32C-C8B0-447E-B191-92BAE032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undefined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C706C-D03B-4643-B4EA-46181EFC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参考文献与材料位置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FB70D-F4DB-4384-A965-5771E601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5E8AA-C0F2-4F73-97EF-EE251100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CF3F4-1C36-4A3F-90E2-A72C20F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Liu, J. et al. (2018). A method for measuring 3-D surface deformations with InSAR based on strain model and variance component estimation. IEEE TGRS 56, 239–250. DOI: 10.1109/TGRS.2017.2745576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Liu, J. et al. (2019). Complete three-dimensional coseismic deformation field of the 2016 Central Tottori earthquake retrieved from InSAR. JGR Solid Earth. DOI: 10.1029/2018JB017159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Liu, J. et al. (2022). Three-dimensional coseismic deformation of the 2022 Menyuan earthquake from multisource SAR. Remote Sensing 14, 1404. DOI: 10.3390/rs14061404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C4641-21B4-44B8-A0A8-50BF6DA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36A92"/>
                </a:solidFill>
                <a:latin typeface="微软雅黑"/>
                <a:ea typeface="微软雅黑"/>
                <a:cs typeface="微软雅黑"/>
              </a:rPr>
              <a:t>本地材料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FAA20-56EA-455D-8C19-1A096FB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01_文献：论文 PDF 与 refs.bib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02_MATLAB原版：作者程序和只读副本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03_Python版：本地 GitHub 代码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04_运行结果：双版本结果与定量对比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06_讲稿与说明：运行指南与讲稿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E0FD8-B4BF-407A-9D23-F701880F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006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5332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E5332A"/>
                </a:solidFill>
                <a:latin typeface="Calibri"/>
                <a:ea typeface="Calibri"/>
                <a:cs typeface="Calibri"/>
              </a:rPr>
              <a:t>工作目录</a:t>
            </a:r>
          </a:p>
          <a:p xmlns:a="http://schemas.openxmlformats.org/drawingml/2006/main">
            <a:pPr>
              <a:defRPr sz="1725" b="1">
                <a:solidFill>
                  <a:srgbClr val="E5332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E5332A"/>
                </a:solidFill>
                <a:latin typeface="Calibri"/>
                <a:ea typeface="Calibri"/>
                <a:cs typeface="Calibri"/>
              </a:rPr>
              <a:t>E:\#Post\2026.09.04 今日组会</a:t>
            </a:r>
          </a:p>
        </p:txBody>
      </p:sp>
    </p:spTree>
    <p:extLst>
      <p:ext uri="{BB962C8B-B14F-4D97-AF65-F5344CB8AC3E}">
        <p14:creationId xmlns:p14="http://schemas.microsoft.com/office/powerpoint/2010/main" val="87969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2026-09-04T11:16:55.8790000Z</dcterms:created>
  <dcterms:modified xsi:type="dcterms:W3CDTF">2026-09-04T11:16:55.8790000Z</dcterms:modified>
</coreProperties>
</file>