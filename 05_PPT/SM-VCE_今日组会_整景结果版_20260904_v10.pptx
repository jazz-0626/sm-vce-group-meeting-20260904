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9" Type="http://schemas.openxmlformats.org/officeDocument/2006/relationships/tableStyles" Target="tableStyles.xml"/><Relationship Id="rId38" Type="http://schemas.openxmlformats.org/officeDocument/2006/relationships/viewProps" Target="viewProps.xml"/><Relationship Id="rId37" Type="http://schemas.openxmlformats.org/officeDocument/2006/relationships/presProps" Target="presProps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报告分两段。正文从 LOS 投影开始，把 SM 和 VCE 的职责拆开；演示部分运行刘计洪提供的 MATLAB 原版与本地 Python 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前 18 页作为 15 分钟正文。第 29 页以后进入代码演示。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这里说明原理以 2018 方法为主，2019 和 2022 论文提供地震应用证据。MATLAB 原版也作为本次 PPT 的核心材料。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请观众对比第三列 POT_AZI 与第一列 DInSAR 的纹理。几何更丰富并不等于每一组都应该等权使用。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从观众熟悉的 LOS 解释。a、b、c 不是待估参数，而是由观测几何计算出来的已知系数。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给出矩阵的行与列含义。行数是有效观测数，列数是三个形变分量。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这一页把后续两部分挂到观众已经懂的最小二乘框架上。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图中红线在黄色边界带跳动，蓝线更连续。SM 的邻域观测使覆盖发生变化时方程不至于骤变。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H 是 3×2 的局部位移梯度。窗口太大时线性假设变差，窗口太小时冗余不足。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这是代码真实使用的九列。讲清每个乘积项为什么出现：先把邻域位移展开，再乘 LOS 投影系数。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强调 rank 检查仍然只针对观测几何。空间模型可以补覆盖与稳定性，但不能替代真实几何多样性。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这页是本次修改的核心。SM 和 VCE 处在同一个最小二乘框架的不同位置。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先建立概率模型，再讲计算公式。观测组通常按轨道、传感器和观测类型划分。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 的对角项含 k_i 减去自由度影响，非对角项反映不同组通过共同未知数产生的耦合。无需逐项背公式，但要知道不是简单用残差均方代替方差。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这是批判性但重要的代码事实。论文写的是迭代更新，当前提供的版本实际只重定权一次。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这页按照 SMVCE_solve3D.m 的代码流程讲，避免把算法抽象成与实现无关的流程图。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论文选择 21×21，当前震例使用 41×41。参数不能直接跨震例照搬，需要结合分辨率、形变梯度与缺测范围调整。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这张图用于说明模型检验思路：结果图、模型拟合和残差需要一起看。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区分外部精度与内部一致性。我们能验证移植是否接近 MATLAB，不能由此证明震例结果的绝对精度。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强调两组对比不是换数据，而是在同一震例中改变参与反演的观测组集合。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先讲清楚本页的层级：正文结果全部来自整景；ROI 只保留为演示时的快速运行样例。Python GPU 预览关闭断层跨侧窗口剔除，不能冒充严格逐像元复现。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逐组读表时先看 MATLAB 严格原版，再把 Python 预览当作量级核对。不要简单把 sita 大小等同于传感器质量。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不要沿用 ROI 的结论。整景差值可能显示不同的空间结构；结合下一页定量值解释。VCE 是定权，不是条带滤波器。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这页不是逐像元一致性证明。共同数据与局部模型相同，但 GPU 预览为了速度关闭断层跨侧窗口剔除；差值包含这一配置差异。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先读上三行：这是严格可解释的观测集合影响。下三行只说明 Python GPU 预览与原版的差距，不是严格移植误差，因为预览关闭了断层跨侧窗口剔除。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分清三件事：Python 对通用 SM-VCE 的移植、为整景预览添加的 GPU 运行配置、以及当前震例的输出裁剪。后两者都不是通用算法改进。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批判性评价要对应模型与代码，不泛泛说优缺点。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正文停在这里。随后切换到 MATLAB 和 Python 的现场演示。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按固定顺序演示，避免现场临时找文件。整景结果已预先计算；现场 ROI 只演示代码流程。所有输出写入 04_运行结果，不修改 MATLAB 原目录。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如现场时间不足，只运行 original7，all9 使用已保存结果展示。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命令行参数以当前脚本帮助为准。现场先运行 help，确认 case 参数名称。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这页留给现场故障时使用。先定位数据和门限，再怀疑算法公式。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答疑页。完整引用和运行路径均可从本地目录打开。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7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1.png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8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1" Type="http://schemas.openxmlformats.org/officeDocument/2006/relationships/image" Target="../media/image1.png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9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png"/></Relationships>
</file>

<file path=ppt/slides/_rels/slide2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2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4.png"/></Relationships>
</file>

<file path=ppt/slides/_rels/slide2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6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7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8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9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0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1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2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11334750" y="6419850"/>
            <a:ext cx="342900" cy="171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900" b="0">
                <a:solidFill>
                  <a:srgbClr val="8A8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8A8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undefined</a:t>
            </a:r>
            <a:endParaRPr sz="900" b="0">
              <a:solidFill>
                <a:srgbClr val="8A8A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14300"/>
            <a:ext cx="2143125" cy="2143125"/>
          </a:xfrm>
          <a:prstGeom prst="rect">
            <a:avLst/>
          </a:prstGeom>
        </p:spPr>
      </p:pic>
      <p:sp>
        <p:nvSpPr>
          <p:cNvPr id="4" name="矩形 3"/>
          <p:cNvSpPr>
            <a:spLocks noGrp="1"/>
          </p:cNvSpPr>
          <p:nvPr/>
        </p:nvSpPr>
        <p:spPr>
          <a:xfrm>
            <a:off x="1047750" y="2362200"/>
            <a:ext cx="10096500" cy="647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3750" b="1">
                <a:solidFill>
                  <a:srgbClr val="4A9CC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750" b="1">
                <a:solidFill>
                  <a:srgbClr val="4A9CC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SM-VCE 三维形变反演</a:t>
            </a:r>
            <a:endParaRPr sz="3750" b="1">
              <a:solidFill>
                <a:srgbClr val="4A9CC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1428750" y="3076575"/>
            <a:ext cx="9334500" cy="4381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175" b="0">
                <a:solidFill>
                  <a:srgbClr val="236A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0">
                <a:solidFill>
                  <a:srgbClr val="236A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 LOS 观测方程到 MATLAB 与 Python 实跑</a:t>
            </a:r>
            <a:endParaRPr sz="2175" b="0">
              <a:solidFill>
                <a:srgbClr val="236A9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2714625" y="3638550"/>
            <a:ext cx="676275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7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刘计洪算法文献与代码复现</a:t>
            </a:r>
            <a:endParaRPr sz="1725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3714750" y="4686300"/>
            <a:ext cx="47625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87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2026-09-04</a:t>
            </a:r>
            <a:endParaRPr sz="1875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8" name="图片 1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11334750" y="6419850"/>
            <a:ext cx="342900" cy="171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900" b="0">
                <a:solidFill>
                  <a:srgbClr val="8A8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8A8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undefined</a:t>
            </a:r>
            <a:endParaRPr sz="900" b="0">
              <a:solidFill>
                <a:srgbClr val="8A8A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238125"/>
            <a:ext cx="1057275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925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925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报告结构</a:t>
            </a:r>
            <a:endParaRPr sz="2925" b="1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876300"/>
            <a:ext cx="10953750" cy="19050"/>
          </a:xfrm>
          <a:prstGeom prst="rect">
            <a:avLst/>
          </a:prstGeom>
          <a:solidFill>
            <a:srgbClr val="B7C7D1"/>
          </a:solidFill>
          <a:ln w="0">
            <a:noFill/>
          </a:ln>
        </p:spPr>
        <p:txBody>
          <a:bodyPr anchor="ctr">
            <a:noAutofit/>
          </a:bodyPr>
          <a:lstStyle/>
          <a:p/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9620250" y="238125"/>
            <a:ext cx="19050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200" b="0">
                <a:solidFill>
                  <a:srgbClr val="236A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236A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导入</a:t>
            </a:r>
            <a:endParaRPr sz="1200" b="0">
              <a:solidFill>
                <a:srgbClr val="236A9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904875" y="1428750"/>
            <a:ext cx="76200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850" b="1">
                <a:solidFill>
                  <a:srgbClr val="4A9CC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850" b="1">
                <a:solidFill>
                  <a:srgbClr val="4A9CC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2850" b="1">
              <a:solidFill>
                <a:srgbClr val="4A9CC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714500" y="1381125"/>
            <a:ext cx="32385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2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 LOS 到 ENU</a:t>
            </a:r>
            <a:endParaRPr sz="2250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1714500" y="1876425"/>
            <a:ext cx="390525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6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投影系数、矩阵堆叠、秩与条件数</a:t>
            </a:r>
            <a:endParaRPr sz="165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904875" y="2714625"/>
            <a:ext cx="76200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850" b="1">
                <a:solidFill>
                  <a:srgbClr val="4A9CC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850" b="1">
                <a:solidFill>
                  <a:srgbClr val="4A9CC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2850" b="1">
              <a:solidFill>
                <a:srgbClr val="4A9CC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714500" y="2667000"/>
            <a:ext cx="32385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2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SM 与 VCE</a:t>
            </a:r>
            <a:endParaRPr sz="2250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1714500" y="3162300"/>
            <a:ext cx="752475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6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局部位移梯度负责增广方程，方差分量负责组间定权</a:t>
            </a:r>
            <a:endParaRPr sz="165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904875" y="4000500"/>
            <a:ext cx="76200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850" b="1">
                <a:solidFill>
                  <a:srgbClr val="4A9CC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850" b="1">
                <a:solidFill>
                  <a:srgbClr val="4A9CC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2850" b="1">
              <a:solidFill>
                <a:srgbClr val="4A9CC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1714500" y="3952875"/>
            <a:ext cx="371475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2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同数据双版本复现</a:t>
            </a:r>
            <a:endParaRPr sz="2250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1714500" y="4448175"/>
            <a:ext cx="723900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6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original7 与 all9；MATLAB 与 Python；Python 震例参数</a:t>
            </a:r>
            <a:endParaRPr sz="165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904875" y="5286375"/>
            <a:ext cx="76200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850" b="1">
                <a:solidFill>
                  <a:srgbClr val="4A9CC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850" b="1">
                <a:solidFill>
                  <a:srgbClr val="4A9CC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endParaRPr sz="2850" b="1">
              <a:solidFill>
                <a:srgbClr val="4A9CC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1714500" y="5238750"/>
            <a:ext cx="371475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2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适用条件与局限</a:t>
            </a:r>
            <a:endParaRPr sz="2250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1714500" y="5734050"/>
            <a:ext cx="619125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6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条带噪声、边界、平稳性假设和参数迁移</a:t>
            </a:r>
            <a:endParaRPr sz="165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8" name="图片 1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11334750" y="6419850"/>
            <a:ext cx="342900" cy="171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900" b="0">
                <a:solidFill>
                  <a:srgbClr val="8A8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8A8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undefined</a:t>
            </a:r>
            <a:endParaRPr sz="900" b="0">
              <a:solidFill>
                <a:srgbClr val="8A8A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238125"/>
            <a:ext cx="1057275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925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925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方法脉络与本次材料</a:t>
            </a:r>
            <a:endParaRPr sz="2925" b="1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876300"/>
            <a:ext cx="10953750" cy="19050"/>
          </a:xfrm>
          <a:prstGeom prst="rect">
            <a:avLst/>
          </a:prstGeom>
          <a:solidFill>
            <a:srgbClr val="B7C7D1"/>
          </a:solidFill>
          <a:ln w="0">
            <a:noFill/>
          </a:ln>
        </p:spPr>
        <p:txBody>
          <a:bodyPr anchor="ctr">
            <a:noAutofit/>
          </a:bodyPr>
          <a:lstStyle/>
          <a:p/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9620250" y="238125"/>
            <a:ext cx="19050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200" b="0">
                <a:solidFill>
                  <a:srgbClr val="236A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236A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文献</a:t>
            </a:r>
            <a:endParaRPr sz="1200" b="0">
              <a:solidFill>
                <a:srgbClr val="236A9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762000" y="1476375"/>
            <a:ext cx="11430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250" b="1">
                <a:solidFill>
                  <a:srgbClr val="4A9CC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4A9CC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2018</a:t>
            </a:r>
            <a:endParaRPr sz="2250" b="1">
              <a:solidFill>
                <a:srgbClr val="4A9CC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2095500" y="1428750"/>
            <a:ext cx="3905250" cy="4381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175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SM-VCE 方法提出</a:t>
            </a:r>
            <a:endParaRPr sz="2175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2095500" y="1885950"/>
            <a:ext cx="8477250" cy="4381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6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用应变模型整合多视角 InSAR，并用方差分量估计相对精度。</a:t>
            </a:r>
            <a:endParaRPr sz="165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762000" y="2714625"/>
            <a:ext cx="11430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250" b="1">
                <a:solidFill>
                  <a:srgbClr val="4A9CC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4A9CC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2019</a:t>
            </a:r>
            <a:endParaRPr sz="2250" b="1">
              <a:solidFill>
                <a:srgbClr val="4A9CC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2095500" y="2667000"/>
            <a:ext cx="4953000" cy="4381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175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Tottori 地震与 SM-RVCE</a:t>
            </a:r>
            <a:endParaRPr sz="2175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2095500" y="3124200"/>
            <a:ext cx="8001000" cy="4381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6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讨论覆盖边界、粗差抑制、窗口大小和 GNSS 检验。</a:t>
            </a:r>
            <a:endParaRPr sz="165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762000" y="3952875"/>
            <a:ext cx="11430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250" b="1">
                <a:solidFill>
                  <a:srgbClr val="4A9CC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4A9CC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2022</a:t>
            </a:r>
            <a:endParaRPr sz="2250" b="1">
              <a:solidFill>
                <a:srgbClr val="4A9CC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2095500" y="3905250"/>
            <a:ext cx="5715000" cy="4381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175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门源地震多源 SAR 联合反演</a:t>
            </a:r>
            <a:endParaRPr sz="2175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2095500" y="4362450"/>
            <a:ext cx="8096250" cy="4381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6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DInSAR、POT LOS、POT AZI、BOI/MAI 的联合应用。</a:t>
            </a:r>
            <a:endParaRPr sz="165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762000" y="5286375"/>
            <a:ext cx="15240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025" b="1">
                <a:solidFill>
                  <a:srgbClr val="E533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E533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本次代码</a:t>
            </a:r>
            <a:endParaRPr sz="2025" b="1">
              <a:solidFill>
                <a:srgbClr val="E533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2476500" y="5238750"/>
            <a:ext cx="838200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刘计洪提供的MATLAB 原版</a:t>
            </a:r>
            <a:endParaRPr sz="1800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以及本地 GitHub </a:t>
            </a:r>
            <a:r>
              <a:rPr lang="zh-CN"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转义的</a:t>
            </a:r>
            <a:r>
              <a: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Python 版</a:t>
            </a:r>
            <a:endParaRPr sz="1800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571500" y="6419850"/>
            <a:ext cx="1104900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050" b="0">
                <a:solidFill>
                  <a:srgbClr val="7777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7777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Liu et al., IEEE TGRS 2018; JGR Solid Earth 2019; Remote Sensing 2022</a:t>
            </a:r>
            <a:endParaRPr sz="1050" b="0">
              <a:solidFill>
                <a:srgbClr val="77777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2" name="图片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11334750" y="6419850"/>
            <a:ext cx="342900" cy="171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900" b="0">
                <a:solidFill>
                  <a:srgbClr val="8A8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8A8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undefined</a:t>
            </a:r>
            <a:endParaRPr sz="900" b="0">
              <a:solidFill>
                <a:srgbClr val="8A8A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238125"/>
            <a:ext cx="1057275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925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925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多源观测的几何信息与噪声水平不同</a:t>
            </a:r>
            <a:endParaRPr sz="2925" b="1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876300"/>
            <a:ext cx="10953750" cy="19050"/>
          </a:xfrm>
          <a:prstGeom prst="rect">
            <a:avLst/>
          </a:prstGeom>
          <a:solidFill>
            <a:srgbClr val="B7C7D1"/>
          </a:solidFill>
          <a:ln w="0">
            <a:noFill/>
          </a:ln>
        </p:spPr>
        <p:txBody>
          <a:bodyPr anchor="ctr">
            <a:noAutofit/>
          </a:bodyPr>
          <a:lstStyle/>
          <a:p/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9620250" y="238125"/>
            <a:ext cx="19050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200" b="0">
                <a:solidFill>
                  <a:srgbClr val="236A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236A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观测</a:t>
            </a:r>
            <a:endParaRPr sz="1200" b="0">
              <a:solidFill>
                <a:srgbClr val="236A9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9817" y="1095375"/>
            <a:ext cx="4901491" cy="5191125"/>
          </a:xfrm>
          <a:prstGeom prst="rect">
            <a:avLst/>
          </a:prstGeom>
        </p:spPr>
      </p:pic>
      <p:sp>
        <p:nvSpPr>
          <p:cNvPr id="7" name="矩形 6"/>
          <p:cNvSpPr>
            <a:spLocks noGrp="1"/>
          </p:cNvSpPr>
          <p:nvPr/>
        </p:nvSpPr>
        <p:spPr>
          <a:xfrm>
            <a:off x="8810625" y="1381125"/>
            <a:ext cx="2571750" cy="647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875" b="1">
                <a:solidFill>
                  <a:srgbClr val="236A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236A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同一个地震，不同数据组提供的约束不同</a:t>
            </a:r>
            <a:endParaRPr sz="1875" b="1">
              <a:solidFill>
                <a:srgbClr val="236A9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8810625" y="2286000"/>
            <a:ext cx="2428875" cy="1095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DInSAR</a:t>
            </a:r>
            <a:endParaRPr sz="1725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LOS 向精度较高</a:t>
            </a:r>
            <a:endParaRPr sz="1725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南北灵敏度弱</a:t>
            </a:r>
            <a:endParaRPr sz="1725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8810625" y="3857625"/>
            <a:ext cx="2571750" cy="12858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POT / MAI / BOI</a:t>
            </a:r>
            <a:endParaRPr sz="1725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补充方位向或断层近场信息</a:t>
            </a:r>
            <a:endParaRPr sz="1725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条带与相关噪声更明显</a:t>
            </a:r>
            <a:endParaRPr sz="1725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8763000" y="5572125"/>
            <a:ext cx="2714625" cy="571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650" b="1">
                <a:solidFill>
                  <a:srgbClr val="E533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E533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联合反演首先是几何问题，同时也是定权问题。</a:t>
            </a:r>
            <a:endParaRPr sz="1650" b="1">
              <a:solidFill>
                <a:srgbClr val="E533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571500" y="6419850"/>
            <a:ext cx="1104900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050" b="0">
                <a:solidFill>
                  <a:srgbClr val="7777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7777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图源：Liu et al., Remote Sensing 2022, Fig. 2, DOI 10.3390/rs14061404</a:t>
            </a:r>
            <a:endParaRPr sz="1050" b="0">
              <a:solidFill>
                <a:srgbClr val="77777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4" name="图片 1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11334750" y="6419850"/>
            <a:ext cx="342900" cy="171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900" b="0">
                <a:solidFill>
                  <a:srgbClr val="8A8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8A8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undefined</a:t>
            </a:r>
            <a:endParaRPr sz="900" b="0">
              <a:solidFill>
                <a:srgbClr val="8A8A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238125"/>
            <a:ext cx="1057275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925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925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单个 LOS 像元怎样约束三维位移</a:t>
            </a:r>
            <a:endParaRPr sz="2925" b="1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876300"/>
            <a:ext cx="10953750" cy="19050"/>
          </a:xfrm>
          <a:prstGeom prst="rect">
            <a:avLst/>
          </a:prstGeom>
          <a:solidFill>
            <a:srgbClr val="B7C7D1"/>
          </a:solidFill>
          <a:ln w="0">
            <a:noFill/>
          </a:ln>
        </p:spPr>
        <p:txBody>
          <a:bodyPr anchor="ctr">
            <a:noAutofit/>
          </a:bodyPr>
          <a:lstStyle/>
          <a:p/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9620250" y="238125"/>
            <a:ext cx="19050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200" b="0">
                <a:solidFill>
                  <a:srgbClr val="236A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236A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LOS 到 ENU</a:t>
            </a:r>
            <a:endParaRPr sz="1200" b="0">
              <a:solidFill>
                <a:srgbClr val="236A9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143000" y="1381125"/>
            <a:ext cx="9906000" cy="666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850" b="1">
                <a:solidFill>
                  <a:srgbClr val="236A92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pPr>
            <a:r>
              <a:rPr sz="2850" b="1">
                <a:solidFill>
                  <a:srgbClr val="236A92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d_LOS = aE + bN + cU</a:t>
            </a:r>
            <a:endParaRPr sz="2850" b="1">
              <a:solidFill>
                <a:srgbClr val="236A92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428750" y="2571750"/>
            <a:ext cx="2952750" cy="428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100" b="0">
                <a:solidFill>
                  <a:srgbClr val="111111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pPr>
            <a:r>
              <a:rPr sz="2100" b="0">
                <a:solidFill>
                  <a:srgbClr val="11111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 = −s·sinθ·sinα</a:t>
            </a:r>
            <a:endParaRPr sz="2100" b="0">
              <a:solidFill>
                <a:srgbClr val="11111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4619625" y="2571750"/>
            <a:ext cx="2952750" cy="428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100" b="0">
                <a:solidFill>
                  <a:srgbClr val="111111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pPr>
            <a:r>
              <a:rPr sz="2100" b="0">
                <a:solidFill>
                  <a:srgbClr val="11111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b = −s·sinθ·cosα</a:t>
            </a:r>
            <a:endParaRPr sz="2100" b="0">
              <a:solidFill>
                <a:srgbClr val="11111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8096250" y="2571750"/>
            <a:ext cx="2190750" cy="428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100" b="0">
                <a:solidFill>
                  <a:srgbClr val="111111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pPr>
            <a:r>
              <a:rPr sz="2100" b="0">
                <a:solidFill>
                  <a:srgbClr val="11111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 = cosθ</a:t>
            </a:r>
            <a:endParaRPr sz="2100" b="0">
              <a:solidFill>
                <a:srgbClr val="11111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095375" y="3333750"/>
            <a:ext cx="10001250" cy="428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7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θ：入射角    α：由轨道方位角换算的视线方位    s：右视为 1、左视为 −1</a:t>
            </a:r>
            <a:endParaRPr sz="1725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1809750" y="4286250"/>
            <a:ext cx="8572500" cy="571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175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[a  b  c] 是这一条观测对 [E  N  U] 的敏感方向。</a:t>
            </a:r>
            <a:endParaRPr sz="2175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1809750" y="5238750"/>
            <a:ext cx="8572500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950" b="1">
                <a:solidFill>
                  <a:srgbClr val="E533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rgbClr val="E533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一条 LOS 方程只有一个标量，不能单独解出三个分量。</a:t>
            </a:r>
            <a:endParaRPr sz="1950" b="1">
              <a:solidFill>
                <a:srgbClr val="E533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571500" y="6419850"/>
            <a:ext cx="1104900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050" b="0">
                <a:solidFill>
                  <a:srgbClr val="7777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7777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公式与符号对应本地代码 lk_vec.m / lk_vec.py</a:t>
            </a:r>
            <a:endParaRPr sz="1050" b="0">
              <a:solidFill>
                <a:srgbClr val="77777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4" name="图片 1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11334750" y="6419850"/>
            <a:ext cx="342900" cy="171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900" b="0">
                <a:solidFill>
                  <a:srgbClr val="8A8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8A8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undefined</a:t>
            </a:r>
            <a:endParaRPr sz="900" b="0">
              <a:solidFill>
                <a:srgbClr val="8A8A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238125"/>
            <a:ext cx="1057275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925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925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多条观测堆叠成一个线性方程组</a:t>
            </a:r>
            <a:endParaRPr sz="2925" b="1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876300"/>
            <a:ext cx="10953750" cy="19050"/>
          </a:xfrm>
          <a:prstGeom prst="rect">
            <a:avLst/>
          </a:prstGeom>
          <a:solidFill>
            <a:srgbClr val="B7C7D1"/>
          </a:solidFill>
          <a:ln w="0">
            <a:noFill/>
          </a:ln>
        </p:spPr>
        <p:txBody>
          <a:bodyPr anchor="ctr">
            <a:noAutofit/>
          </a:bodyPr>
          <a:lstStyle/>
          <a:p/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9620250" y="238125"/>
            <a:ext cx="19050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200" b="0">
                <a:solidFill>
                  <a:srgbClr val="236A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236A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LOS 到 ENU</a:t>
            </a:r>
            <a:endParaRPr sz="1200" b="0">
              <a:solidFill>
                <a:srgbClr val="236A9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19125" y="1238250"/>
            <a:ext cx="10953750" cy="571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850" b="1">
                <a:solidFill>
                  <a:srgbClr val="236A92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pPr>
            <a:r>
              <a:rPr sz="2850" b="1">
                <a:solidFill>
                  <a:srgbClr val="236A92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y = A d + v</a:t>
            </a:r>
            <a:endParaRPr sz="2850" b="1">
              <a:solidFill>
                <a:srgbClr val="236A92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238250" y="2190750"/>
            <a:ext cx="1428750" cy="2286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250" b="0">
                <a:solidFill>
                  <a:srgbClr val="111111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pPr>
            <a:r>
              <a:rPr sz="2250" b="0">
                <a:solidFill>
                  <a:srgbClr val="11111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⎡ y₁ ⎤</a:t>
            </a:r>
            <a:endParaRPr sz="2250" b="0">
              <a:solidFill>
                <a:srgbClr val="11111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>
              <a:defRPr sz="2250" b="0">
                <a:solidFill>
                  <a:srgbClr val="111111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pPr>
            <a:r>
              <a:rPr sz="2250" b="0">
                <a:solidFill>
                  <a:srgbClr val="11111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⎢ y₂ ⎥</a:t>
            </a:r>
            <a:endParaRPr sz="2250" b="0">
              <a:solidFill>
                <a:srgbClr val="11111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>
              <a:defRPr sz="2250" b="0">
                <a:solidFill>
                  <a:srgbClr val="111111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pPr>
            <a:r>
              <a:rPr sz="2250" b="0">
                <a:solidFill>
                  <a:srgbClr val="11111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⎢  ⋮  ⎥</a:t>
            </a:r>
            <a:endParaRPr sz="2250" b="0">
              <a:solidFill>
                <a:srgbClr val="11111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>
              <a:defRPr sz="2250" b="0">
                <a:solidFill>
                  <a:srgbClr val="111111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pPr>
            <a:r>
              <a:rPr sz="2250" b="0">
                <a:solidFill>
                  <a:srgbClr val="11111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⎣ yₘ ⎦</a:t>
            </a:r>
            <a:endParaRPr sz="2250" b="0">
              <a:solidFill>
                <a:srgbClr val="11111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2857500" y="3000375"/>
            <a:ext cx="666750" cy="571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850" b="0">
                <a:solidFill>
                  <a:srgbClr val="111111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pPr>
            <a:r>
              <a:rPr sz="2850" b="0">
                <a:solidFill>
                  <a:srgbClr val="11111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=</a:t>
            </a:r>
            <a:endParaRPr sz="2850" b="0">
              <a:solidFill>
                <a:srgbClr val="11111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3524250" y="2190750"/>
            <a:ext cx="3143250" cy="2286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250" b="0">
                <a:solidFill>
                  <a:srgbClr val="111111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pPr>
            <a:r>
              <a:rPr sz="2250" b="0">
                <a:solidFill>
                  <a:srgbClr val="11111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⎡ a₁  b₁  c₁ ⎤</a:t>
            </a:r>
            <a:endParaRPr sz="2250" b="0">
              <a:solidFill>
                <a:srgbClr val="11111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>
              <a:defRPr sz="2250" b="0">
                <a:solidFill>
                  <a:srgbClr val="111111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pPr>
            <a:r>
              <a:rPr sz="2250" b="0">
                <a:solidFill>
                  <a:srgbClr val="11111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⎢ a₂  b₂  c₂ ⎥</a:t>
            </a:r>
            <a:endParaRPr sz="2250" b="0">
              <a:solidFill>
                <a:srgbClr val="11111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>
              <a:defRPr sz="2250" b="0">
                <a:solidFill>
                  <a:srgbClr val="111111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pPr>
            <a:r>
              <a:rPr sz="2250" b="0">
                <a:solidFill>
                  <a:srgbClr val="11111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⎢      ⋮       ⎥</a:t>
            </a:r>
            <a:endParaRPr sz="2250" b="0">
              <a:solidFill>
                <a:srgbClr val="11111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>
              <a:defRPr sz="2250" b="0">
                <a:solidFill>
                  <a:srgbClr val="111111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pPr>
            <a:r>
              <a:rPr sz="2250" b="0">
                <a:solidFill>
                  <a:srgbClr val="11111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⎣ aₘ  bₘ  cₘ ⎦</a:t>
            </a:r>
            <a:endParaRPr sz="2250" b="0">
              <a:solidFill>
                <a:srgbClr val="11111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6858000" y="2524125"/>
            <a:ext cx="1428750" cy="1619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250" b="0">
                <a:solidFill>
                  <a:srgbClr val="111111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pPr>
            <a:r>
              <a:rPr sz="2250" b="0">
                <a:solidFill>
                  <a:srgbClr val="11111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⎡ E ⎤</a:t>
            </a:r>
            <a:endParaRPr sz="2250" b="0">
              <a:solidFill>
                <a:srgbClr val="11111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>
              <a:defRPr sz="2250" b="0">
                <a:solidFill>
                  <a:srgbClr val="111111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pPr>
            <a:r>
              <a:rPr sz="2250" b="0">
                <a:solidFill>
                  <a:srgbClr val="11111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⎢ N ⎥</a:t>
            </a:r>
            <a:endParaRPr sz="2250" b="0">
              <a:solidFill>
                <a:srgbClr val="11111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>
              <a:defRPr sz="2250" b="0">
                <a:solidFill>
                  <a:srgbClr val="111111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pPr>
            <a:r>
              <a:rPr sz="2250" b="0">
                <a:solidFill>
                  <a:srgbClr val="11111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⎣ U ⎦</a:t>
            </a:r>
            <a:endParaRPr sz="2250" b="0">
              <a:solidFill>
                <a:srgbClr val="11111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8382000" y="3000375"/>
            <a:ext cx="952500" cy="571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550" b="0">
                <a:solidFill>
                  <a:srgbClr val="111111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pPr>
            <a:r>
              <a:rPr sz="2550" b="0">
                <a:solidFill>
                  <a:srgbClr val="11111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+ v</a:t>
            </a:r>
            <a:endParaRPr sz="2550" b="0">
              <a:solidFill>
                <a:srgbClr val="11111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1714500" y="4953000"/>
            <a:ext cx="8763000" cy="4381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87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 的每一行来自一条 LOS、AZI、E、N 或 U 观测。</a:t>
            </a:r>
            <a:endParaRPr sz="1875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1285875" y="5572125"/>
            <a:ext cx="9620250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875" b="1">
                <a:solidFill>
                  <a:srgbClr val="E533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E533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至少要 rank(A)=3；近极轨几何常使 N 列弱，条件数会放大噪声。</a:t>
            </a:r>
            <a:endParaRPr sz="1875" b="1">
              <a:solidFill>
                <a:srgbClr val="E533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4" name="图片 1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11334750" y="6419850"/>
            <a:ext cx="342900" cy="171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900" b="0">
                <a:solidFill>
                  <a:srgbClr val="8A8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8A8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undefined</a:t>
            </a:r>
            <a:endParaRPr sz="900" b="0">
              <a:solidFill>
                <a:srgbClr val="8A8A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238125"/>
            <a:ext cx="1057275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925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925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加权最小二乘得到 ENU</a:t>
            </a:r>
            <a:endParaRPr sz="2925" b="1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876300"/>
            <a:ext cx="10953750" cy="19050"/>
          </a:xfrm>
          <a:prstGeom prst="rect">
            <a:avLst/>
          </a:prstGeom>
          <a:solidFill>
            <a:srgbClr val="B7C7D1"/>
          </a:solidFill>
          <a:ln w="0">
            <a:noFill/>
          </a:ln>
        </p:spPr>
        <p:txBody>
          <a:bodyPr anchor="ctr">
            <a:noAutofit/>
          </a:bodyPr>
          <a:lstStyle/>
          <a:p/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9620250" y="238125"/>
            <a:ext cx="19050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200" b="0">
                <a:solidFill>
                  <a:srgbClr val="236A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236A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LOS 到 ENU</a:t>
            </a:r>
            <a:endParaRPr sz="1200" b="0">
              <a:solidFill>
                <a:srgbClr val="236A9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809625" y="1381125"/>
            <a:ext cx="10572750" cy="666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3000" b="1">
                <a:solidFill>
                  <a:srgbClr val="236A92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pPr>
            <a:r>
              <a:rPr sz="3000" b="1">
                <a:solidFill>
                  <a:srgbClr val="236A92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d̂ = (AᵀPA)⁻¹ AᵀPy</a:t>
            </a:r>
            <a:endParaRPr sz="3000" b="1">
              <a:solidFill>
                <a:srgbClr val="236A92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000125" y="2619375"/>
            <a:ext cx="200025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250" b="1">
                <a:solidFill>
                  <a:srgbClr val="4A9CC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4A9CC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AᵀPA</a:t>
            </a:r>
            <a:endParaRPr sz="2250" b="1">
              <a:solidFill>
                <a:srgbClr val="4A9CC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3190875" y="2619375"/>
            <a:ext cx="733425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87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法方程矩阵；几何决定可解性和误差放大</a:t>
            </a:r>
            <a:endParaRPr sz="1875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000125" y="3619500"/>
            <a:ext cx="200025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250" b="1">
                <a:solidFill>
                  <a:srgbClr val="4A9CC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4A9CC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</a:t>
            </a:r>
            <a:endParaRPr sz="2250" b="1">
              <a:solidFill>
                <a:srgbClr val="4A9CC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3190875" y="3619500"/>
            <a:ext cx="733425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87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观测权阵；理想情况下与观测方差成反比</a:t>
            </a:r>
            <a:endParaRPr sz="1875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1000125" y="4619625"/>
            <a:ext cx="200025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100" b="1">
                <a:solidFill>
                  <a:srgbClr val="4A9CCB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pPr>
            <a:r>
              <a:rPr sz="2100" b="1">
                <a:solidFill>
                  <a:srgbClr val="4A9CCB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v = A d̂ − y</a:t>
            </a:r>
            <a:endParaRPr sz="2100" b="1">
              <a:solidFill>
                <a:srgbClr val="4A9CCB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3190875" y="4619625"/>
            <a:ext cx="733425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87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残差；同时含观测误差与模型误差</a:t>
            </a:r>
            <a:endParaRPr sz="1875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1952625" y="5619750"/>
            <a:ext cx="8286750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250" b="1">
                <a:solidFill>
                  <a:srgbClr val="E533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E533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SM 改变 A 的构造，VCE 改变 P 的取值。</a:t>
            </a:r>
            <a:endParaRPr sz="2250" b="1">
              <a:solidFill>
                <a:srgbClr val="E533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2" name="图片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11334750" y="6419850"/>
            <a:ext cx="342900" cy="171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900" b="0">
                <a:solidFill>
                  <a:srgbClr val="8A8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8A8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undefined</a:t>
            </a:r>
            <a:endParaRPr sz="900" b="0">
              <a:solidFill>
                <a:srgbClr val="8A8A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238125"/>
            <a:ext cx="1057275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925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925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逐像元 WLS 在覆盖边界出现跳变</a:t>
            </a:r>
            <a:endParaRPr sz="2925" b="1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876300"/>
            <a:ext cx="10953750" cy="19050"/>
          </a:xfrm>
          <a:prstGeom prst="rect">
            <a:avLst/>
          </a:prstGeom>
          <a:solidFill>
            <a:srgbClr val="B7C7D1"/>
          </a:solidFill>
          <a:ln w="0">
            <a:noFill/>
          </a:ln>
        </p:spPr>
        <p:txBody>
          <a:bodyPr anchor="ctr">
            <a:noAutofit/>
          </a:bodyPr>
          <a:lstStyle/>
          <a:p/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9620250" y="238125"/>
            <a:ext cx="19050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200" b="0">
                <a:solidFill>
                  <a:srgbClr val="236A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236A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问题证据</a:t>
            </a:r>
            <a:endParaRPr sz="1200" b="0">
              <a:solidFill>
                <a:srgbClr val="236A9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7611" y="1143000"/>
            <a:ext cx="6630777" cy="5095875"/>
          </a:xfrm>
          <a:prstGeom prst="rect">
            <a:avLst/>
          </a:prstGeom>
        </p:spPr>
      </p:pic>
      <p:sp>
        <p:nvSpPr>
          <p:cNvPr id="7" name="矩形 6"/>
          <p:cNvSpPr>
            <a:spLocks noGrp="1"/>
          </p:cNvSpPr>
          <p:nvPr/>
        </p:nvSpPr>
        <p:spPr>
          <a:xfrm>
            <a:off x="9620250" y="1857375"/>
            <a:ext cx="17145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875" b="1">
                <a:solidFill>
                  <a:srgbClr val="E533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E533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红线：WLS</a:t>
            </a:r>
            <a:endParaRPr sz="1875" b="1">
              <a:solidFill>
                <a:srgbClr val="E533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9429750" y="2333625"/>
            <a:ext cx="2143125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650" b="1">
                <a:solidFill>
                  <a:srgbClr val="236A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236A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蓝线：SM-RVCE</a:t>
            </a:r>
            <a:endParaRPr sz="1650" b="1">
              <a:solidFill>
                <a:srgbClr val="236A9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9572625" y="3143250"/>
            <a:ext cx="2000250" cy="1809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黄色区域是影像覆盖转换带。WLS 在这里出现尖峰与跳变，尤其明显地传入 N 分量。</a:t>
            </a:r>
            <a:endParaRPr sz="1725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9572625" y="5238750"/>
            <a:ext cx="2000250" cy="809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575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方程数量和权重在覆盖边界变化，解随之出现不连续。</a:t>
            </a:r>
            <a:endParaRPr sz="1575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571500" y="6419850"/>
            <a:ext cx="1104900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050" b="0">
                <a:solidFill>
                  <a:srgbClr val="7777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7777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图源：Liu et al., JGR Solid Earth 2019, Fig. 7, DOI 10.1029/2018JB017159</a:t>
            </a:r>
            <a:endParaRPr sz="1050" b="0">
              <a:solidFill>
                <a:srgbClr val="77777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2" name="图片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11334750" y="6419850"/>
            <a:ext cx="342900" cy="171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900" b="0">
                <a:solidFill>
                  <a:srgbClr val="8A8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8A8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undefined</a:t>
            </a:r>
            <a:endParaRPr sz="900" b="0">
              <a:solidFill>
                <a:srgbClr val="8A8A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238125"/>
            <a:ext cx="1057275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925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925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SM：用局部一阶模型描述邻域形变</a:t>
            </a:r>
            <a:endParaRPr sz="2925" b="1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876300"/>
            <a:ext cx="10953750" cy="19050"/>
          </a:xfrm>
          <a:prstGeom prst="rect">
            <a:avLst/>
          </a:prstGeom>
          <a:solidFill>
            <a:srgbClr val="B7C7D1"/>
          </a:solidFill>
          <a:ln w="0">
            <a:noFill/>
          </a:ln>
        </p:spPr>
        <p:txBody>
          <a:bodyPr anchor="ctr">
            <a:noAutofit/>
          </a:bodyPr>
          <a:lstStyle/>
          <a:p/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9620250" y="238125"/>
            <a:ext cx="19050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200" b="0">
                <a:solidFill>
                  <a:srgbClr val="236A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236A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SM</a:t>
            </a:r>
            <a:endParaRPr sz="1200" b="0">
              <a:solidFill>
                <a:srgbClr val="236A9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143000" y="1285875"/>
            <a:ext cx="990600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87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以目标像元 0 为中心，邻域像元 k 的位移写成</a:t>
            </a:r>
            <a:endParaRPr sz="1875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57250" y="1952625"/>
            <a:ext cx="10477500" cy="666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850" b="1">
                <a:solidFill>
                  <a:srgbClr val="236A92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pPr>
            <a:r>
              <a:rPr sz="2850" b="1">
                <a:solidFill>
                  <a:srgbClr val="236A92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dᵏ ≈ d⁰ + H · [Δeₖ  Δnₖ]ᵀ</a:t>
            </a:r>
            <a:endParaRPr sz="2850" b="1">
              <a:solidFill>
                <a:srgbClr val="236A92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1000125" y="3238500"/>
            <a:ext cx="390525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175" b="0">
                <a:solidFill>
                  <a:srgbClr val="111111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pPr>
            <a:r>
              <a:rPr sz="2175" b="0">
                <a:solidFill>
                  <a:srgbClr val="11111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d⁰ = [E₀  N₀  U₀]ᵀ</a:t>
            </a:r>
            <a:endParaRPr sz="2175" b="0">
              <a:solidFill>
                <a:srgbClr val="11111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5334000" y="3000375"/>
            <a:ext cx="4095750" cy="1285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100" b="0">
                <a:solidFill>
                  <a:srgbClr val="111111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pPr>
            <a:r>
              <a:rPr sz="2100" b="0">
                <a:solidFill>
                  <a:srgbClr val="11111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H = ⎡E,e  E,n⎤</a:t>
            </a:r>
            <a:endParaRPr sz="2100" b="0">
              <a:solidFill>
                <a:srgbClr val="11111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>
              <a:defRPr sz="2100" b="0">
                <a:solidFill>
                  <a:srgbClr val="111111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pPr>
            <a:r>
              <a:rPr sz="2100" b="0">
                <a:solidFill>
                  <a:srgbClr val="11111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   ⎢N,e  N,n⎥</a:t>
            </a:r>
            <a:endParaRPr sz="2100" b="0">
              <a:solidFill>
                <a:srgbClr val="11111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>
              <a:defRPr sz="2100" b="0">
                <a:solidFill>
                  <a:srgbClr val="111111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pPr>
            <a:r>
              <a:rPr sz="2100" b="0">
                <a:solidFill>
                  <a:srgbClr val="11111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   ⎣U,e  U,n⎦</a:t>
            </a:r>
            <a:endParaRPr sz="2100" b="0">
              <a:solidFill>
                <a:srgbClr val="11111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143000" y="4619625"/>
            <a:ext cx="9906000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9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假设：在当前窗口内，E、N、U 随东西和南北坐标近似线性变化。</a:t>
            </a:r>
            <a:endParaRPr sz="1950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1285875" y="5429250"/>
            <a:ext cx="9620250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875" b="1">
                <a:solidFill>
                  <a:srgbClr val="E533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E533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SM 不直接平滑结果；它把邻域位移与中心位移、局部梯度放进同一组未知数。</a:t>
            </a:r>
            <a:endParaRPr sz="1875" b="1">
              <a:solidFill>
                <a:srgbClr val="E533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3" name="图片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11334750" y="6419850"/>
            <a:ext cx="342900" cy="171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900" b="0">
                <a:solidFill>
                  <a:srgbClr val="8A8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8A8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undefined</a:t>
            </a:r>
            <a:endParaRPr sz="900" b="0">
              <a:solidFill>
                <a:srgbClr val="8A8A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238125"/>
            <a:ext cx="1057275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925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925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SM 的一条观测怎样写进设计矩阵</a:t>
            </a:r>
            <a:endParaRPr sz="2925" b="1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876300"/>
            <a:ext cx="10953750" cy="19050"/>
          </a:xfrm>
          <a:prstGeom prst="rect">
            <a:avLst/>
          </a:prstGeom>
          <a:solidFill>
            <a:srgbClr val="B7C7D1"/>
          </a:solidFill>
          <a:ln w="0">
            <a:noFill/>
          </a:ln>
        </p:spPr>
        <p:txBody>
          <a:bodyPr anchor="ctr">
            <a:noAutofit/>
          </a:bodyPr>
          <a:lstStyle/>
          <a:p/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9620250" y="238125"/>
            <a:ext cx="19050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200" b="0">
                <a:solidFill>
                  <a:srgbClr val="236A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236A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SM</a:t>
            </a:r>
            <a:endParaRPr sz="1200" b="0">
              <a:solidFill>
                <a:srgbClr val="236A9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000125" y="1285875"/>
            <a:ext cx="1019175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9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邻域像元 k 的 LOS 观测</a:t>
            </a:r>
            <a:endParaRPr sz="1950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762000" y="1809750"/>
            <a:ext cx="10668000" cy="5334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550" b="1">
                <a:solidFill>
                  <a:srgbClr val="236A92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pPr>
            <a:r>
              <a:rPr sz="2550" b="1">
                <a:solidFill>
                  <a:srgbClr val="236A92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yₖ = [aₖ  bₖ  cₖ] dᵏ + vₖ</a:t>
            </a:r>
            <a:endParaRPr sz="2550" b="1">
              <a:solidFill>
                <a:srgbClr val="236A92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1000125" y="2619375"/>
            <a:ext cx="1019175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8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代入局部一阶模型后</a:t>
            </a:r>
            <a:endParaRPr sz="180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381000" y="3238500"/>
            <a:ext cx="11430000" cy="628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175" b="1">
                <a:solidFill>
                  <a:srgbClr val="111111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pPr>
            <a:r>
              <a:rPr sz="2175" b="1">
                <a:solidFill>
                  <a:srgbClr val="11111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yₖ = [ a  b  c  aΔe  aΔn  bΔe  bΔn  cΔe  cΔn ]ₖ · l + vₖ</a:t>
            </a:r>
            <a:endParaRPr sz="2175" b="1">
              <a:solidFill>
                <a:srgbClr val="11111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523875" y="4238625"/>
            <a:ext cx="11144250" cy="571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175" b="0">
                <a:solidFill>
                  <a:srgbClr val="111111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pPr>
            <a:r>
              <a:rPr sz="2175" b="0">
                <a:solidFill>
                  <a:srgbClr val="11111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l = [ E₀  N₀  U₀  E,e  E,n  N,e  N,n  U,e  U,n ]ᵀ</a:t>
            </a:r>
            <a:endParaRPr sz="2175" b="0">
              <a:solidFill>
                <a:srgbClr val="11111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1619250" y="5286375"/>
            <a:ext cx="895350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025" b="1">
                <a:solidFill>
                  <a:srgbClr val="E533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E533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前三列决定中心 ENU；后六列吸收窗口内的线性空间变化。</a:t>
            </a:r>
            <a:endParaRPr sz="2025" b="1">
              <a:solidFill>
                <a:srgbClr val="E533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571500" y="6419850"/>
            <a:ext cx="1104900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050" b="0">
                <a:solidFill>
                  <a:srgbClr val="7777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7777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列顺序已按 get_design_mat.m 与 get_design_mat.py 核对；本案例 fsmpara=2</a:t>
            </a:r>
            <a:endParaRPr sz="1050" b="0">
              <a:solidFill>
                <a:srgbClr val="77777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7" name="图片 1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11334750" y="6419850"/>
            <a:ext cx="342900" cy="171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900" b="0">
                <a:solidFill>
                  <a:srgbClr val="8A8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8A8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undefined</a:t>
            </a:r>
            <a:endParaRPr sz="900" b="0">
              <a:solidFill>
                <a:srgbClr val="8A8A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238125"/>
            <a:ext cx="1057275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925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925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窗口内所有有效观测共同估计 9 个未知数</a:t>
            </a:r>
            <a:endParaRPr sz="2925" b="1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876300"/>
            <a:ext cx="10953750" cy="19050"/>
          </a:xfrm>
          <a:prstGeom prst="rect">
            <a:avLst/>
          </a:prstGeom>
          <a:solidFill>
            <a:srgbClr val="B7C7D1"/>
          </a:solidFill>
          <a:ln w="0">
            <a:noFill/>
          </a:ln>
        </p:spPr>
        <p:txBody>
          <a:bodyPr anchor="ctr">
            <a:noAutofit/>
          </a:bodyPr>
          <a:lstStyle/>
          <a:p/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9620250" y="238125"/>
            <a:ext cx="19050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200" b="0">
                <a:solidFill>
                  <a:srgbClr val="236A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236A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SM</a:t>
            </a:r>
            <a:endParaRPr sz="1200" b="0">
              <a:solidFill>
                <a:srgbClr val="236A9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762000" y="1285875"/>
            <a:ext cx="238125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875" b="1">
                <a:solidFill>
                  <a:srgbClr val="236A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236A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 i 组观测</a:t>
            </a:r>
            <a:endParaRPr sz="1875" b="1">
              <a:solidFill>
                <a:srgbClr val="236A9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762000" y="1809750"/>
            <a:ext cx="352425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325" b="1">
                <a:solidFill>
                  <a:srgbClr val="111111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pPr>
            <a:r>
              <a:rPr sz="2325" b="1">
                <a:solidFill>
                  <a:srgbClr val="11111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Lᵢ  =  Bᵢ l + vᵢ</a:t>
            </a:r>
            <a:endParaRPr sz="2325" b="1">
              <a:solidFill>
                <a:srgbClr val="11111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62000" y="2571750"/>
            <a:ext cx="24765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800" b="0">
                <a:solidFill>
                  <a:srgbClr val="111111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pPr>
            <a:r>
              <a:rPr sz="1800" b="0">
                <a:solidFill>
                  <a:srgbClr val="11111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Lᵢ：kᵢ×1</a:t>
            </a:r>
            <a:endParaRPr sz="1800" b="0">
              <a:solidFill>
                <a:srgbClr val="11111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762000" y="3048000"/>
            <a:ext cx="24765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800" b="0">
                <a:solidFill>
                  <a:srgbClr val="111111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pPr>
            <a:r>
              <a:rPr sz="1800" b="0">
                <a:solidFill>
                  <a:srgbClr val="11111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Bᵢ：kᵢ×9</a:t>
            </a:r>
            <a:endParaRPr sz="1800" b="0">
              <a:solidFill>
                <a:srgbClr val="11111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4572000" y="1285875"/>
            <a:ext cx="285750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875" b="1">
                <a:solidFill>
                  <a:srgbClr val="236A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236A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 g 组观测堆叠</a:t>
            </a:r>
            <a:endParaRPr sz="1875" b="1">
              <a:solidFill>
                <a:srgbClr val="236A9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4572000" y="1857375"/>
            <a:ext cx="4095750" cy="1285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250" b="0">
                <a:solidFill>
                  <a:srgbClr val="111111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pPr>
            <a:r>
              <a:rPr sz="2250" b="0">
                <a:solidFill>
                  <a:srgbClr val="11111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L = [L₁ᵀ … Lgᵀ]ᵀ</a:t>
            </a:r>
            <a:endParaRPr sz="2250" b="0">
              <a:solidFill>
                <a:srgbClr val="11111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>
              <a:defRPr sz="2250" b="0">
                <a:solidFill>
                  <a:srgbClr val="111111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pPr>
            <a:r>
              <a:rPr sz="2250" b="0">
                <a:solidFill>
                  <a:srgbClr val="11111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B = [B₁ᵀ … Bgᵀ]ᵀ</a:t>
            </a:r>
            <a:endParaRPr sz="2250" b="0">
              <a:solidFill>
                <a:srgbClr val="11111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8667750" y="1285875"/>
            <a:ext cx="266700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875" b="1">
                <a:solidFill>
                  <a:srgbClr val="236A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236A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本次窗口 41×41</a:t>
            </a:r>
            <a:endParaRPr sz="1875" b="1">
              <a:solidFill>
                <a:srgbClr val="236A9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8667750" y="1857375"/>
            <a:ext cx="2619375" cy="12858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每组最多 1681 个样本</a:t>
            </a:r>
            <a:endParaRPr sz="180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 组最多 15129 条方程</a:t>
            </a:r>
            <a:endParaRPr sz="180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未知数仍是 9 个</a:t>
            </a:r>
            <a:endParaRPr sz="180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762000" y="4095750"/>
            <a:ext cx="19050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875" b="1">
                <a:solidFill>
                  <a:srgbClr val="E533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E533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代码门限</a:t>
            </a:r>
            <a:endParaRPr sz="1875" b="1">
              <a:solidFill>
                <a:srgbClr val="E533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762000" y="4619625"/>
            <a:ext cx="10572750" cy="571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875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每组有效样本 kᵢ ≥ 0.1×41² ≈ 168；中心几何 rank(Bgeo)≥3；cond(Bgeo)≤10¹⁰。</a:t>
            </a:r>
            <a:endParaRPr sz="1875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1095375" y="5619750"/>
            <a:ext cx="10001250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87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SM 增加的是观测方程数和空间连续性约束，不会凭空增加新的观测方向。</a:t>
            </a:r>
            <a:endParaRPr sz="1875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2" name="图片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11334750" y="6419850"/>
            <a:ext cx="342900" cy="171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900" b="0">
                <a:solidFill>
                  <a:srgbClr val="8A8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8A8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undefined</a:t>
            </a:r>
            <a:endParaRPr sz="900" b="0">
              <a:solidFill>
                <a:srgbClr val="8A8A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238125"/>
            <a:ext cx="1057275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925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925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SM 与 VCE 的职责分工</a:t>
            </a:r>
            <a:endParaRPr sz="2925" b="1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876300"/>
            <a:ext cx="10953750" cy="19050"/>
          </a:xfrm>
          <a:prstGeom prst="rect">
            <a:avLst/>
          </a:prstGeom>
          <a:solidFill>
            <a:srgbClr val="B7C7D1"/>
          </a:solidFill>
          <a:ln w="0">
            <a:noFill/>
          </a:ln>
        </p:spPr>
        <p:txBody>
          <a:bodyPr anchor="ctr">
            <a:noAutofit/>
          </a:bodyPr>
          <a:lstStyle/>
          <a:p/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9620250" y="238125"/>
            <a:ext cx="19050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200" b="0">
                <a:solidFill>
                  <a:srgbClr val="236A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236A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SM + VCE</a:t>
            </a:r>
            <a:endParaRPr sz="1200" b="0">
              <a:solidFill>
                <a:srgbClr val="236A9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714375" y="1190625"/>
            <a:ext cx="1076325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625" b="1">
                <a:solidFill>
                  <a:srgbClr val="236A92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pPr>
            <a:r>
              <a:rPr sz="2625" b="1">
                <a:solidFill>
                  <a:srgbClr val="236A92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L = B_SM l + v</a:t>
            </a:r>
            <a:endParaRPr sz="2625" b="1">
              <a:solidFill>
                <a:srgbClr val="236A92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904875" y="2238375"/>
            <a:ext cx="4000500" cy="4381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250" b="1">
                <a:solidFill>
                  <a:srgbClr val="4A9CC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4A9CC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SM：函数模型</a:t>
            </a:r>
            <a:endParaRPr sz="2250" b="1">
              <a:solidFill>
                <a:srgbClr val="4A9CC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904875" y="2857500"/>
            <a:ext cx="4476750" cy="2000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87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改变 B 和未知数 l</a:t>
            </a:r>
            <a:endParaRPr sz="1875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sz="1875"/>
          </a:p>
          <a:p>
            <a:pPr>
              <a:defRPr sz="187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使用邻域坐标差构造梯度项</a:t>
            </a:r>
            <a:endParaRPr sz="1875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sz="1875"/>
          </a:p>
          <a:p>
            <a:pPr>
              <a:defRPr sz="187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解决覆盖变化、单像元方程少和解的空间连续性</a:t>
            </a:r>
            <a:endParaRPr sz="1875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715125" y="2238375"/>
            <a:ext cx="4000500" cy="4381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250" b="1">
                <a:solidFill>
                  <a:srgbClr val="E533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E533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VCE：随机模型</a:t>
            </a:r>
            <a:endParaRPr sz="2250" b="1">
              <a:solidFill>
                <a:srgbClr val="E533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6715125" y="2857500"/>
            <a:ext cx="4476750" cy="2000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87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改变各组 Pᵢ</a:t>
            </a:r>
            <a:endParaRPr sz="1875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sz="1875"/>
          </a:p>
          <a:p>
            <a:pPr>
              <a:defRPr sz="187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使用分组残差估计 σᵢ²</a:t>
            </a:r>
            <a:endParaRPr sz="1875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sz="1875"/>
          </a:p>
          <a:p>
            <a:pPr>
              <a:defRPr sz="187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解决先验精度未知、不同传感器与算法噪声不一致</a:t>
            </a:r>
            <a:endParaRPr sz="1875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1714500" y="5524500"/>
            <a:ext cx="8763000" cy="5143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2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SM 负责“怎么列方程”，VCE 负责“每组方程信多少”。</a:t>
            </a:r>
            <a:endParaRPr sz="2250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5" name="图片 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11334750" y="6419850"/>
            <a:ext cx="342900" cy="171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900" b="0">
                <a:solidFill>
                  <a:srgbClr val="8A8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8A8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undefined</a:t>
            </a:r>
            <a:endParaRPr sz="900" b="0">
              <a:solidFill>
                <a:srgbClr val="8A8A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238125"/>
            <a:ext cx="1057275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925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925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VCE：为每个观测组建立独立方差尺度</a:t>
            </a:r>
            <a:endParaRPr sz="2925" b="1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876300"/>
            <a:ext cx="10953750" cy="19050"/>
          </a:xfrm>
          <a:prstGeom prst="rect">
            <a:avLst/>
          </a:prstGeom>
          <a:solidFill>
            <a:srgbClr val="B7C7D1"/>
          </a:solidFill>
          <a:ln w="0">
            <a:noFill/>
          </a:ln>
        </p:spPr>
        <p:txBody>
          <a:bodyPr anchor="ctr">
            <a:noAutofit/>
          </a:bodyPr>
          <a:lstStyle/>
          <a:p/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9620250" y="238125"/>
            <a:ext cx="19050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200" b="0">
                <a:solidFill>
                  <a:srgbClr val="236A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236A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VCE</a:t>
            </a:r>
            <a:endParaRPr sz="1200" b="0">
              <a:solidFill>
                <a:srgbClr val="236A9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047750" y="1476375"/>
            <a:ext cx="314325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400" b="1">
                <a:solidFill>
                  <a:srgbClr val="236A92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pPr>
            <a:r>
              <a:rPr sz="2400" b="1">
                <a:solidFill>
                  <a:srgbClr val="236A92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E(vᵢ) = 0</a:t>
            </a:r>
            <a:endParaRPr sz="2400" b="1">
              <a:solidFill>
                <a:srgbClr val="236A92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4762500" y="1476375"/>
            <a:ext cx="619125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400" b="1">
                <a:solidFill>
                  <a:srgbClr val="236A92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pPr>
            <a:r>
              <a:rPr sz="2400" b="1">
                <a:solidFill>
                  <a:srgbClr val="236A92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Cov(vᵢ) = σᵢ² Pᵢ⁻¹</a:t>
            </a:r>
            <a:endParaRPr sz="2400" b="1">
              <a:solidFill>
                <a:srgbClr val="236A92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952500" y="2714625"/>
            <a:ext cx="180975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100" b="1">
                <a:solidFill>
                  <a:srgbClr val="4A9CCB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pPr>
            <a:r>
              <a:rPr sz="2100" b="1">
                <a:solidFill>
                  <a:srgbClr val="4A9CCB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Pᵢ⁽⁰⁾</a:t>
            </a:r>
            <a:endParaRPr sz="2100" b="1">
              <a:solidFill>
                <a:srgbClr val="4A9CCB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3000375" y="2714625"/>
            <a:ext cx="733425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87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组内先验权；本次多数情况下从单位阵开始。</a:t>
            </a:r>
            <a:endParaRPr sz="1875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952500" y="3714750"/>
            <a:ext cx="180975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100" b="1">
                <a:solidFill>
                  <a:srgbClr val="E5332A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pPr>
            <a:r>
              <a:rPr sz="2100" b="1">
                <a:solidFill>
                  <a:srgbClr val="E5332A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σᵢ²</a:t>
            </a:r>
            <a:endParaRPr sz="2100" b="1">
              <a:solidFill>
                <a:srgbClr val="E5332A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3000375" y="3714750"/>
            <a:ext cx="78105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87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 i 组的单位权方差分量，由残差与自由度共同估计。</a:t>
            </a:r>
            <a:endParaRPr sz="1875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952500" y="4714875"/>
            <a:ext cx="180975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100" b="1">
                <a:solidFill>
                  <a:srgbClr val="4A9CCB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pPr>
            <a:r>
              <a:rPr sz="2100" b="1">
                <a:solidFill>
                  <a:srgbClr val="4A9CCB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Pᵢ⁽¹⁾</a:t>
            </a:r>
            <a:endParaRPr sz="2100" b="1">
              <a:solidFill>
                <a:srgbClr val="4A9CCB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3000375" y="4714875"/>
            <a:ext cx="78105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87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更新后的组间相对权；σᵢ² 大的观测组权重降低。</a:t>
            </a:r>
            <a:endParaRPr sz="1875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2095500" y="5715000"/>
            <a:ext cx="800100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875" b="1">
                <a:solidFill>
                  <a:srgbClr val="E533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E533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这里估计的是观测组尺度，不是逐像元噪声图。</a:t>
            </a:r>
            <a:endParaRPr sz="1875" b="1">
              <a:solidFill>
                <a:srgbClr val="E533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6" name="图片 1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11334750" y="6419850"/>
            <a:ext cx="342900" cy="171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900" b="0">
                <a:solidFill>
                  <a:srgbClr val="8A8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8A8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undefined</a:t>
            </a:r>
            <a:endParaRPr sz="900" b="0">
              <a:solidFill>
                <a:srgbClr val="8A8A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238125"/>
            <a:ext cx="1057275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925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925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VCE 从分组残差中估计方差分量</a:t>
            </a:r>
            <a:endParaRPr sz="2925" b="1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876300"/>
            <a:ext cx="10953750" cy="19050"/>
          </a:xfrm>
          <a:prstGeom prst="rect">
            <a:avLst/>
          </a:prstGeom>
          <a:solidFill>
            <a:srgbClr val="B7C7D1"/>
          </a:solidFill>
          <a:ln w="0">
            <a:noFill/>
          </a:ln>
        </p:spPr>
        <p:txBody>
          <a:bodyPr anchor="ctr">
            <a:noAutofit/>
          </a:bodyPr>
          <a:lstStyle/>
          <a:p/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9620250" y="238125"/>
            <a:ext cx="19050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200" b="0">
                <a:solidFill>
                  <a:srgbClr val="236A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236A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VCE</a:t>
            </a:r>
            <a:endParaRPr sz="1200" b="0">
              <a:solidFill>
                <a:srgbClr val="236A9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428625" y="1238250"/>
            <a:ext cx="11334750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100" b="1">
                <a:solidFill>
                  <a:srgbClr val="111111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pPr>
            <a:r>
              <a:rPr sz="2100" b="1">
                <a:solidFill>
                  <a:srgbClr val="11111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Nᵢ = BᵢᵀPᵢBᵢ      N = ΣNᵢ      l̂ = N⁺ΣBᵢᵀPᵢLᵢ</a:t>
            </a:r>
            <a:endParaRPr sz="2100" b="1">
              <a:solidFill>
                <a:srgbClr val="11111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714375" y="2143125"/>
            <a:ext cx="10763250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250" b="1">
                <a:solidFill>
                  <a:srgbClr val="236A92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pPr>
            <a:r>
              <a:rPr sz="2250" b="1">
                <a:solidFill>
                  <a:srgbClr val="236A92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vᵢ = Bᵢl̂ − Lᵢ      Wᵢ = vᵢᵀPᵢvᵢ</a:t>
            </a:r>
            <a:endParaRPr sz="2250" b="1">
              <a:solidFill>
                <a:srgbClr val="236A92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1047750" y="3190875"/>
            <a:ext cx="3714750" cy="666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850" b="1">
                <a:solidFill>
                  <a:srgbClr val="E5332A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pPr>
            <a:r>
              <a:rPr sz="2850" b="1">
                <a:solidFill>
                  <a:srgbClr val="E5332A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σ̂² = S⁺W</a:t>
            </a:r>
            <a:endParaRPr sz="2850" b="1">
              <a:solidFill>
                <a:srgbClr val="E5332A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5238750" y="3048000"/>
            <a:ext cx="85725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100" b="1">
                <a:solidFill>
                  <a:srgbClr val="4A9CC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4A9CC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</a:t>
            </a:r>
            <a:endParaRPr sz="2100" b="1">
              <a:solidFill>
                <a:srgbClr val="4A9CC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6286500" y="3048000"/>
            <a:ext cx="390525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各组加权残差平方和</a:t>
            </a:r>
            <a:endParaRPr sz="180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5238750" y="3714750"/>
            <a:ext cx="85725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100" b="1">
                <a:solidFill>
                  <a:srgbClr val="4A9CC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4A9CC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</a:t>
            </a:r>
            <a:endParaRPr sz="2100" b="1">
              <a:solidFill>
                <a:srgbClr val="4A9CC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286500" y="3619500"/>
            <a:ext cx="4476750" cy="762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65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由样本数 kᵢ、N⁺ 和 Nᵢ 的迹构成，校正不同组对参数估计的贡献</a:t>
            </a:r>
            <a:endParaRPr sz="165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952500" y="4810125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475" b="1">
                <a:solidFill>
                  <a:srgbClr val="111111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pPr>
            <a:r>
              <a:rPr sz="2475" b="1">
                <a:solidFill>
                  <a:srgbClr val="11111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Pᵢ⁽¹⁾ = (σ̂₁² / σ̂ᵢ²) Pᵢ⁽⁰⁾</a:t>
            </a:r>
            <a:endParaRPr sz="2475" b="1">
              <a:solidFill>
                <a:srgbClr val="11111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1857375" y="5619750"/>
            <a:ext cx="847725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8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 1 组只作为相对权基准；绝对尺度不影响加权解。</a:t>
            </a:r>
            <a:endParaRPr sz="180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571500" y="6419850"/>
            <a:ext cx="1104900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050" b="0">
                <a:solidFill>
                  <a:srgbClr val="7777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7777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Liu et al., JGR Solid Earth 2019, Eqs. 10–13；SMVCE_vce.m 中 getsita / getP</a:t>
            </a:r>
            <a:endParaRPr sz="1050" b="0">
              <a:solidFill>
                <a:srgbClr val="77777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6" name="图片 1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11334750" y="6419850"/>
            <a:ext cx="342900" cy="171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900" b="0">
                <a:solidFill>
                  <a:srgbClr val="8A8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8A8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undefined</a:t>
            </a:r>
            <a:endParaRPr sz="900" b="0">
              <a:solidFill>
                <a:srgbClr val="8A8A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238125"/>
            <a:ext cx="1057275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925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925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原版代码实际执行两次 VCE 求解</a:t>
            </a:r>
            <a:endParaRPr sz="2925" b="1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876300"/>
            <a:ext cx="10953750" cy="19050"/>
          </a:xfrm>
          <a:prstGeom prst="rect">
            <a:avLst/>
          </a:prstGeom>
          <a:solidFill>
            <a:srgbClr val="B7C7D1"/>
          </a:solidFill>
          <a:ln w="0">
            <a:noFill/>
          </a:ln>
        </p:spPr>
        <p:txBody>
          <a:bodyPr anchor="ctr">
            <a:noAutofit/>
          </a:bodyPr>
          <a:lstStyle/>
          <a:p/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9620250" y="238125"/>
            <a:ext cx="19050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200" b="0">
                <a:solidFill>
                  <a:srgbClr val="236A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236A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代码事实</a:t>
            </a:r>
            <a:endParaRPr sz="1200" b="0">
              <a:solidFill>
                <a:srgbClr val="236A9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857250" y="1476375"/>
            <a:ext cx="3048000" cy="428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100" b="1">
                <a:solidFill>
                  <a:srgbClr val="4A9CC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4A9CC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第一次 getsita</a:t>
            </a:r>
            <a:endParaRPr sz="2100" b="1">
              <a:solidFill>
                <a:srgbClr val="4A9CC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57250" y="2047875"/>
            <a:ext cx="4381500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87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用初始 P 求 l̂、vᵢ、W 和 σ̂ᵢ²</a:t>
            </a:r>
            <a:endParaRPr sz="1875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857250" y="3143250"/>
            <a:ext cx="3048000" cy="428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100" b="1">
                <a:solidFill>
                  <a:srgbClr val="E533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E533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权重更新</a:t>
            </a:r>
            <a:endParaRPr sz="2100" b="1">
              <a:solidFill>
                <a:srgbClr val="E533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857250" y="3714750"/>
            <a:ext cx="4667250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87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负方差先取 abs；Pᵢ = (σ̂₁²/σ̂ᵢ²)Pᵢ⁰</a:t>
            </a:r>
            <a:endParaRPr sz="1875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857250" y="4905375"/>
            <a:ext cx="3048000" cy="428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100" b="1">
                <a:solidFill>
                  <a:srgbClr val="4A9CC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4A9CC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第二次 getsita</a:t>
            </a:r>
            <a:endParaRPr sz="2100" b="1">
              <a:solidFill>
                <a:srgbClr val="4A9CC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857250" y="5476875"/>
            <a:ext cx="4857750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87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用更新权重再次求 l̂ 和 σ̂ᵢ²，然后输出</a:t>
            </a:r>
            <a:endParaRPr sz="1875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667500" y="1571625"/>
            <a:ext cx="3905250" cy="428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025" b="1">
                <a:solidFill>
                  <a:srgbClr val="236A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236A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论文中的迭代收敛判据</a:t>
            </a:r>
            <a:endParaRPr sz="2025" b="1">
              <a:solidFill>
                <a:srgbClr val="236A9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6572250" y="2238375"/>
            <a:ext cx="4191000" cy="571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175" b="1">
                <a:solidFill>
                  <a:srgbClr val="111111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pPr>
            <a:r>
              <a:rPr sz="2175" b="1">
                <a:solidFill>
                  <a:srgbClr val="11111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max(σ̂²) − min(σ̂²) ≤ ε²</a:t>
            </a:r>
            <a:endParaRPr sz="2175" b="1">
              <a:solidFill>
                <a:srgbClr val="11111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6524625" y="3333750"/>
            <a:ext cx="4381500" cy="1809750"/>
          </a:xfrm>
          <a:prstGeom prst="rect">
            <a:avLst/>
          </a:prstGeom>
          <a:solidFill>
            <a:srgbClr val="FFF8D9"/>
          </a:solidFill>
          <a:ln w="0">
            <a:noFill/>
          </a:ln>
        </p:spPr>
        <p:txBody>
          <a:bodyPr anchor="t">
            <a:noAutofit/>
          </a:bodyPr>
          <a:lstStyle/>
          <a:p>
            <a:pPr>
              <a:defRPr sz="187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当前 MATLAB 原版中 while 循环被注释，因此演示结果应解释为一次重定权后的两阶段实现，不应说成完全迭代收敛。</a:t>
            </a:r>
            <a:endParaRPr sz="1875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571500" y="6419850"/>
            <a:ext cx="1104900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050" b="0">
                <a:solidFill>
                  <a:srgbClr val="7777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7777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代码依据：02_MATLAB原版/.../SMVCE_vce.m；Python 版保持同一逻辑</a:t>
            </a:r>
            <a:endParaRPr sz="1050" b="0">
              <a:solidFill>
                <a:srgbClr val="77777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2" name="图片 2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11334750" y="6419850"/>
            <a:ext cx="342900" cy="171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900" b="0">
                <a:solidFill>
                  <a:srgbClr val="8A8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8A8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undefined</a:t>
            </a:r>
            <a:endParaRPr sz="900" b="0">
              <a:solidFill>
                <a:srgbClr val="8A8A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238125"/>
            <a:ext cx="1057275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925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925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每个目标像元的计算顺序</a:t>
            </a:r>
            <a:endParaRPr sz="2925" b="1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876300"/>
            <a:ext cx="10953750" cy="19050"/>
          </a:xfrm>
          <a:prstGeom prst="rect">
            <a:avLst/>
          </a:prstGeom>
          <a:solidFill>
            <a:srgbClr val="B7C7D1"/>
          </a:solidFill>
          <a:ln w="0">
            <a:noFill/>
          </a:ln>
        </p:spPr>
        <p:txBody>
          <a:bodyPr anchor="ctr">
            <a:noAutofit/>
          </a:bodyPr>
          <a:lstStyle/>
          <a:p/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9620250" y="238125"/>
            <a:ext cx="19050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200" b="0">
                <a:solidFill>
                  <a:srgbClr val="236A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236A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算法流程</a:t>
            </a:r>
            <a:endParaRPr sz="1200" b="0">
              <a:solidFill>
                <a:srgbClr val="236A9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523875" y="1666875"/>
            <a:ext cx="1952625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725" b="1">
                <a:solidFill>
                  <a:srgbClr val="236A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236A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 取窗口</a:t>
            </a:r>
            <a:endParaRPr sz="1725" b="1">
              <a:solidFill>
                <a:srgbClr val="236A9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523875" y="2286000"/>
            <a:ext cx="1952625" cy="15716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57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按目标像元截取邻域</a:t>
            </a:r>
            <a:endParaRPr sz="1575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 sz="157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筛选有效点和断层同侧</a:t>
            </a:r>
            <a:endParaRPr sz="1575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2571750" y="1809750"/>
            <a:ext cx="171450" cy="2190750"/>
          </a:xfrm>
          <a:prstGeom prst="rect">
            <a:avLst/>
          </a:prstGeom>
          <a:solidFill>
            <a:srgbClr val="C7D4DB"/>
          </a:solidFill>
          <a:ln w="0">
            <a:noFill/>
          </a:ln>
        </p:spPr>
        <p:txBody>
          <a:bodyPr anchor="ctr">
            <a:noAutofit/>
          </a:bodyPr>
          <a:lstStyle/>
          <a:p/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2809875" y="1666875"/>
            <a:ext cx="1952625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725" b="1">
                <a:solidFill>
                  <a:srgbClr val="236A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236A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 建方程</a:t>
            </a:r>
            <a:endParaRPr sz="1725" b="1">
              <a:solidFill>
                <a:srgbClr val="236A9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2809875" y="2286000"/>
            <a:ext cx="1952625" cy="15716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57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计算 a,b,c 与 Δe,Δn</a:t>
            </a:r>
            <a:endParaRPr sz="1575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 sz="157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形成各组 Bᵢ、Lᵢ</a:t>
            </a:r>
            <a:endParaRPr sz="1575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4857750" y="1809750"/>
            <a:ext cx="171450" cy="2190750"/>
          </a:xfrm>
          <a:prstGeom prst="rect">
            <a:avLst/>
          </a:prstGeom>
          <a:solidFill>
            <a:srgbClr val="C7D4DB"/>
          </a:solidFill>
          <a:ln w="0">
            <a:noFill/>
          </a:ln>
        </p:spPr>
        <p:txBody>
          <a:bodyPr anchor="ctr">
            <a:noAutofit/>
          </a:bodyPr>
          <a:lstStyle/>
          <a:p/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5095875" y="1666875"/>
            <a:ext cx="1952625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725" b="1">
                <a:solidFill>
                  <a:srgbClr val="236A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236A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 初始解</a:t>
            </a:r>
            <a:endParaRPr sz="1725" b="1">
              <a:solidFill>
                <a:srgbClr val="236A9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5095875" y="2286000"/>
            <a:ext cx="1952625" cy="15716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57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检查样本数、秩、条件数</a:t>
            </a:r>
            <a:endParaRPr sz="1575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 sz="157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求 l̂⁰ 与分组残差</a:t>
            </a:r>
            <a:endParaRPr sz="1575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7143750" y="1809750"/>
            <a:ext cx="171450" cy="2190750"/>
          </a:xfrm>
          <a:prstGeom prst="rect">
            <a:avLst/>
          </a:prstGeom>
          <a:solidFill>
            <a:srgbClr val="C7D4DB"/>
          </a:solidFill>
          <a:ln w="0">
            <a:noFill/>
          </a:ln>
        </p:spPr>
        <p:txBody>
          <a:bodyPr anchor="ctr">
            <a:noAutofit/>
          </a:bodyPr>
          <a:lstStyle/>
          <a:p/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7381875" y="1666875"/>
            <a:ext cx="1952625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725" b="1">
                <a:solidFill>
                  <a:srgbClr val="E533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E533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 VCE 定权</a:t>
            </a:r>
            <a:endParaRPr sz="1725" b="1">
              <a:solidFill>
                <a:srgbClr val="E533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7381875" y="2286000"/>
            <a:ext cx="1952625" cy="15716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57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由 S⁺W 得到 σ̂ᵢ²</a:t>
            </a:r>
            <a:endParaRPr sz="1575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 sz="157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更新各组 Pᵢ</a:t>
            </a:r>
            <a:endParaRPr sz="1575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9429750" y="1809750"/>
            <a:ext cx="171450" cy="2190750"/>
          </a:xfrm>
          <a:prstGeom prst="rect">
            <a:avLst/>
          </a:prstGeom>
          <a:solidFill>
            <a:srgbClr val="C7D4DB"/>
          </a:solidFill>
          <a:ln w="0">
            <a:noFill/>
          </a:ln>
        </p:spPr>
        <p:txBody>
          <a:bodyPr anchor="ctr">
            <a:noAutofit/>
          </a:bodyPr>
          <a:lstStyle/>
          <a:p/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9667875" y="1666875"/>
            <a:ext cx="1952625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725" b="1">
                <a:solidFill>
                  <a:srgbClr val="236A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236A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 第二次求解</a:t>
            </a:r>
            <a:endParaRPr sz="1725" b="1">
              <a:solidFill>
                <a:srgbClr val="236A9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9667875" y="2286000"/>
            <a:ext cx="1952625" cy="15716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57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求 l̂¹</a:t>
            </a:r>
            <a:endParaRPr sz="1575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 sz="157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保存 ENU、梯度、sita 与精度</a:t>
            </a:r>
            <a:endParaRPr sz="1575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1285875" y="5000625"/>
            <a:ext cx="962025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875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失败像元返回 NaN 或跳过：有效组不足、rank 不足、cond 过大、法方程异常。</a:t>
            </a:r>
            <a:endParaRPr sz="1875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1857375" y="5715000"/>
            <a:ext cx="847725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8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整幅影像逐像元重复，因此窗口大小直接控制计算量。</a:t>
            </a:r>
            <a:endParaRPr sz="180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4" name="图片 1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11334750" y="6419850"/>
            <a:ext cx="342900" cy="171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900" b="0">
                <a:solidFill>
                  <a:srgbClr val="8A8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8A8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undefined</a:t>
            </a:r>
            <a:endParaRPr sz="900" b="0">
              <a:solidFill>
                <a:srgbClr val="8A8A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238125"/>
            <a:ext cx="1057275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925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925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窗口大小在冗余、局部性与计算量之间折中</a:t>
            </a:r>
            <a:endParaRPr sz="2925" b="1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876300"/>
            <a:ext cx="10953750" cy="19050"/>
          </a:xfrm>
          <a:prstGeom prst="rect">
            <a:avLst/>
          </a:prstGeom>
          <a:solidFill>
            <a:srgbClr val="B7C7D1"/>
          </a:solidFill>
          <a:ln w="0">
            <a:noFill/>
          </a:ln>
        </p:spPr>
        <p:txBody>
          <a:bodyPr anchor="ctr">
            <a:noAutofit/>
          </a:bodyPr>
          <a:lstStyle/>
          <a:p/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9620250" y="238125"/>
            <a:ext cx="19050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200" b="0">
                <a:solidFill>
                  <a:srgbClr val="236A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236A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参数</a:t>
            </a:r>
            <a:endParaRPr sz="1200" b="0">
              <a:solidFill>
                <a:srgbClr val="236A9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7574" y="1190625"/>
            <a:ext cx="6482103" cy="4905375"/>
          </a:xfrm>
          <a:prstGeom prst="rect">
            <a:avLst/>
          </a:prstGeom>
        </p:spPr>
      </p:pic>
      <p:sp>
        <p:nvSpPr>
          <p:cNvPr id="7" name="矩形 6"/>
          <p:cNvSpPr>
            <a:spLocks noGrp="1"/>
          </p:cNvSpPr>
          <p:nvPr/>
        </p:nvSpPr>
        <p:spPr>
          <a:xfrm>
            <a:off x="8239125" y="1476375"/>
            <a:ext cx="276225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025" b="1">
                <a:solidFill>
                  <a:srgbClr val="4A9CC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4A9CC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窗口过小</a:t>
            </a:r>
            <a:endParaRPr sz="2025" b="1">
              <a:solidFill>
                <a:srgbClr val="4A9CC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8239125" y="1952625"/>
            <a:ext cx="2857500" cy="666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样本不足，北向分量尤其不稳定。</a:t>
            </a:r>
            <a:endParaRPr sz="1725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8239125" y="3048000"/>
            <a:ext cx="276225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025" b="1">
                <a:solidFill>
                  <a:srgbClr val="236A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236A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窗口适中</a:t>
            </a:r>
            <a:endParaRPr sz="2025" b="1">
              <a:solidFill>
                <a:srgbClr val="236A9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8239125" y="3524250"/>
            <a:ext cx="2857500" cy="666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论文曲线在约 15–25 像元附近误差较低。</a:t>
            </a:r>
            <a:endParaRPr sz="1725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8239125" y="4619625"/>
            <a:ext cx="276225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025" b="1">
                <a:solidFill>
                  <a:srgbClr val="E533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E533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窗口过大</a:t>
            </a:r>
            <a:endParaRPr sz="2025" b="1">
              <a:solidFill>
                <a:srgbClr val="E533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8239125" y="5095875"/>
            <a:ext cx="2857500" cy="714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局部线性假设变差，计算时间快速上升。</a:t>
            </a:r>
            <a:endParaRPr sz="1725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571500" y="6419850"/>
            <a:ext cx="1104900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050" b="0">
                <a:solidFill>
                  <a:srgbClr val="7777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7777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图源：Liu et al., JGR Solid Earth 2019, Fig. 4</a:t>
            </a:r>
            <a:endParaRPr sz="1050" b="0">
              <a:solidFill>
                <a:srgbClr val="77777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3" name="图片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11334750" y="6419850"/>
            <a:ext cx="342900" cy="171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900" b="0">
                <a:solidFill>
                  <a:srgbClr val="8A8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8A8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undefined</a:t>
            </a:r>
            <a:endParaRPr sz="900" b="0">
              <a:solidFill>
                <a:srgbClr val="8A8A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238125"/>
            <a:ext cx="1057275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925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925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论文结果同时检查观测、模型与残差</a:t>
            </a:r>
            <a:endParaRPr sz="2925" b="1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876300"/>
            <a:ext cx="10953750" cy="19050"/>
          </a:xfrm>
          <a:prstGeom prst="rect">
            <a:avLst/>
          </a:prstGeom>
          <a:solidFill>
            <a:srgbClr val="B7C7D1"/>
          </a:solidFill>
          <a:ln w="0">
            <a:noFill/>
          </a:ln>
        </p:spPr>
        <p:txBody>
          <a:bodyPr anchor="ctr">
            <a:noAutofit/>
          </a:bodyPr>
          <a:lstStyle/>
          <a:p/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9620250" y="238125"/>
            <a:ext cx="19050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200" b="0">
                <a:solidFill>
                  <a:srgbClr val="236A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236A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论文证据</a:t>
            </a:r>
            <a:endParaRPr sz="1200" b="0">
              <a:solidFill>
                <a:srgbClr val="236A9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2298" y="1095375"/>
            <a:ext cx="6795655" cy="5191125"/>
          </a:xfrm>
          <a:prstGeom prst="rect">
            <a:avLst/>
          </a:prstGeom>
        </p:spPr>
      </p:pic>
      <p:sp>
        <p:nvSpPr>
          <p:cNvPr id="7" name="矩形 6"/>
          <p:cNvSpPr>
            <a:spLocks noGrp="1"/>
          </p:cNvSpPr>
          <p:nvPr/>
        </p:nvSpPr>
        <p:spPr>
          <a:xfrm>
            <a:off x="9429750" y="1428750"/>
            <a:ext cx="180975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950" b="1">
                <a:solidFill>
                  <a:srgbClr val="236A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rgbClr val="236A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三列</a:t>
            </a:r>
            <a:endParaRPr sz="1950" b="1">
              <a:solidFill>
                <a:srgbClr val="236A9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9429750" y="1905000"/>
            <a:ext cx="1809750" cy="1047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East</a:t>
            </a:r>
            <a:endParaRPr sz="180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North</a:t>
            </a:r>
            <a:endParaRPr sz="180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Up</a:t>
            </a:r>
            <a:endParaRPr sz="180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9429750" y="3286125"/>
            <a:ext cx="180975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950" b="1">
                <a:solidFill>
                  <a:srgbClr val="236A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rgbClr val="236A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三行</a:t>
            </a:r>
            <a:endParaRPr sz="1950" b="1">
              <a:solidFill>
                <a:srgbClr val="236A9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9429750" y="3762375"/>
            <a:ext cx="2000250" cy="1095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反演观测场</a:t>
            </a:r>
            <a:endParaRPr sz="180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局部模型场</a:t>
            </a:r>
            <a:endParaRPr sz="180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残差场</a:t>
            </a:r>
            <a:endParaRPr sz="180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8691245" y="5286375"/>
            <a:ext cx="2738755" cy="762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575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残差不是越小越好；还要检查是否保留系统条带或断层近场结构。</a:t>
            </a:r>
            <a:endParaRPr sz="1575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571500" y="6419850"/>
            <a:ext cx="1104900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050" b="0">
                <a:solidFill>
                  <a:srgbClr val="7777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7777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图源：Liu et al., JGR Solid Earth 2019, Fig. 3</a:t>
            </a:r>
            <a:endParaRPr sz="1050" b="0">
              <a:solidFill>
                <a:srgbClr val="77777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2" name="图片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11334750" y="6419850"/>
            <a:ext cx="342900" cy="171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900" b="0">
                <a:solidFill>
                  <a:srgbClr val="8A8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8A8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undefined</a:t>
            </a:r>
            <a:endParaRPr sz="900" b="0">
              <a:solidFill>
                <a:srgbClr val="8A8A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238125"/>
            <a:ext cx="1057275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925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925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论文使用 GNSS 对三维结果做外部检验</a:t>
            </a:r>
            <a:endParaRPr sz="2925" b="1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876300"/>
            <a:ext cx="10953750" cy="19050"/>
          </a:xfrm>
          <a:prstGeom prst="rect">
            <a:avLst/>
          </a:prstGeom>
          <a:solidFill>
            <a:srgbClr val="B7C7D1"/>
          </a:solidFill>
          <a:ln w="0">
            <a:noFill/>
          </a:ln>
        </p:spPr>
        <p:txBody>
          <a:bodyPr anchor="ctr">
            <a:noAutofit/>
          </a:bodyPr>
          <a:lstStyle/>
          <a:p/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9620250" y="238125"/>
            <a:ext cx="19050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200" b="0">
                <a:solidFill>
                  <a:srgbClr val="236A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236A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论文证据</a:t>
            </a:r>
            <a:endParaRPr sz="1200" b="0">
              <a:solidFill>
                <a:srgbClr val="236A9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6752" y="1143000"/>
            <a:ext cx="4901746" cy="5095875"/>
          </a:xfrm>
          <a:prstGeom prst="rect">
            <a:avLst/>
          </a:prstGeom>
        </p:spPr>
      </p:pic>
      <p:sp>
        <p:nvSpPr>
          <p:cNvPr id="7" name="矩形 6"/>
          <p:cNvSpPr>
            <a:spLocks noGrp="1"/>
          </p:cNvSpPr>
          <p:nvPr/>
        </p:nvSpPr>
        <p:spPr>
          <a:xfrm>
            <a:off x="7096125" y="1476375"/>
            <a:ext cx="314325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100" b="1">
                <a:solidFill>
                  <a:srgbClr val="236A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236A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Tottori 案例</a:t>
            </a:r>
            <a:endParaRPr sz="2100" b="1">
              <a:solidFill>
                <a:srgbClr val="236A9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096125" y="2143125"/>
            <a:ext cx="3714750" cy="1381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100" b="0">
                <a:solidFill>
                  <a:srgbClr val="111111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pPr>
            <a:r>
              <a:rPr sz="2100" b="0">
                <a:solidFill>
                  <a:srgbClr val="11111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East RMSE = 0.4 cm</a:t>
            </a:r>
            <a:endParaRPr sz="2100" b="0">
              <a:solidFill>
                <a:srgbClr val="11111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>
              <a:defRPr sz="2100" b="0">
                <a:solidFill>
                  <a:srgbClr val="111111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pPr>
            <a:r>
              <a:rPr sz="2100" b="0">
                <a:solidFill>
                  <a:srgbClr val="11111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North RMSE = 1.7 cm</a:t>
            </a:r>
            <a:endParaRPr sz="2100" b="0">
              <a:solidFill>
                <a:srgbClr val="11111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>
              <a:defRPr sz="2100" b="0">
                <a:solidFill>
                  <a:srgbClr val="111111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pPr>
            <a:r>
              <a:rPr sz="2100" b="0">
                <a:solidFill>
                  <a:srgbClr val="11111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Up RMSE = 0.4 cm</a:t>
            </a:r>
            <a:endParaRPr sz="2100" b="0">
              <a:solidFill>
                <a:srgbClr val="11111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7096125" y="4000500"/>
            <a:ext cx="3714750" cy="762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875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北向误差仍最大，与近极轨 LOS 的南北弱敏感性一致。</a:t>
            </a:r>
            <a:endParaRPr sz="1875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7096125" y="5191125"/>
            <a:ext cx="3905250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725" b="1">
                <a:solidFill>
                  <a:srgbClr val="E533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E533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本次本地实验没有独立 GNSS 真值，因此双版本一致性不等于绝对正确。</a:t>
            </a:r>
            <a:endParaRPr sz="1725" b="1">
              <a:solidFill>
                <a:srgbClr val="E533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571500" y="6419850"/>
            <a:ext cx="1104900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050" b="0">
                <a:solidFill>
                  <a:srgbClr val="7777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7777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图源：Liu et al., JGR Solid Earth 2019, Fig. 6</a:t>
            </a:r>
            <a:endParaRPr sz="1050" b="0">
              <a:solidFill>
                <a:srgbClr val="77777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2" name="图片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11334750" y="6419850"/>
            <a:ext cx="342900" cy="171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900" b="0">
                <a:solidFill>
                  <a:srgbClr val="8A8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8A8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undefined</a:t>
            </a:r>
            <a:endParaRPr sz="900" b="0">
              <a:solidFill>
                <a:srgbClr val="8A8A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238125"/>
            <a:ext cx="1057275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925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altLang="zh-CN" sz="2925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2022</a:t>
            </a:r>
            <a:r>
              <a:rPr lang="zh-CN" sz="2925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门源地震</a:t>
            </a:r>
            <a:r>
              <a:rPr sz="2925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震例包含 9 组观测</a:t>
            </a:r>
            <a:endParaRPr sz="2925" b="1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876300"/>
            <a:ext cx="10953750" cy="19050"/>
          </a:xfrm>
          <a:prstGeom prst="rect">
            <a:avLst/>
          </a:prstGeom>
          <a:solidFill>
            <a:srgbClr val="B7C7D1"/>
          </a:solidFill>
          <a:ln w="0">
            <a:noFill/>
          </a:ln>
        </p:spPr>
        <p:txBody>
          <a:bodyPr anchor="ctr">
            <a:noAutofit/>
          </a:bodyPr>
          <a:lstStyle/>
          <a:p/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9620250" y="238125"/>
            <a:ext cx="19050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200" b="0">
                <a:solidFill>
                  <a:srgbClr val="236A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236A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本地数据</a:t>
            </a:r>
            <a:endParaRPr sz="1200" b="0">
              <a:solidFill>
                <a:srgbClr val="236A9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17" name="表格 16"/>
          <p:cNvGraphicFramePr/>
          <p:nvPr/>
        </p:nvGraphicFramePr>
        <p:xfrm>
          <a:off x="571500" y="1190625"/>
          <a:ext cx="7143750" cy="4762500"/>
        </p:xfrm>
        <a:graphic>
          <a:graphicData uri="http://schemas.openxmlformats.org/drawingml/2006/table">
            <a:tbl>
              <a:tblPr/>
              <a:tblGrid>
                <a:gridCol w="666750"/>
                <a:gridCol w="3238500"/>
                <a:gridCol w="1333500"/>
                <a:gridCol w="1524000"/>
              </a:tblGrid>
              <a:tr h="47625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编号</a:t>
                      </a:r>
                      <a:endParaRPr sz="127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6200" marR="76200" marT="47625" marB="47625">
                    <a:solidFill>
                      <a:srgbClr val="4A9CC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观测</a:t>
                      </a:r>
                      <a:endParaRPr sz="127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6200" marR="76200" marT="47625" marB="47625">
                    <a:solidFill>
                      <a:srgbClr val="4A9CC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类型</a:t>
                      </a:r>
                      <a:endParaRPr sz="127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6200" marR="76200" marT="47625" marB="47625">
                    <a:solidFill>
                      <a:srgbClr val="4A9CC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original7</a:t>
                      </a:r>
                      <a:endParaRPr sz="127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6200" marR="76200" marT="47625" marB="47625">
                    <a:solidFill>
                      <a:srgbClr val="4A9CCB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</a:t>
                      </a:r>
                      <a:endParaRPr sz="1275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S1 As T128 DInSAR</a:t>
                      </a:r>
                      <a:endParaRPr sz="1275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LOS</a:t>
                      </a:r>
                      <a:endParaRPr sz="1275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保留</a:t>
                      </a:r>
                      <a:endParaRPr sz="1275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6200" marR="76200" marT="47625" marB="47625"/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</a:t>
                      </a:r>
                      <a:endParaRPr sz="1275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S1 As T128 POT</a:t>
                      </a:r>
                      <a:endParaRPr sz="1275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LOS</a:t>
                      </a:r>
                      <a:endParaRPr sz="1275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保留</a:t>
                      </a:r>
                      <a:endParaRPr sz="1275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6200" marR="76200" marT="47625" marB="47625"/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</a:t>
                      </a:r>
                      <a:endParaRPr sz="1275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S1 As T128 POT</a:t>
                      </a:r>
                      <a:endParaRPr sz="1275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AZI</a:t>
                      </a:r>
                      <a:endParaRPr sz="1275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排除</a:t>
                      </a:r>
                      <a:endParaRPr sz="1275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6200" marR="76200" marT="47625" marB="47625"/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</a:t>
                      </a:r>
                      <a:endParaRPr sz="1275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S1 Des DInSAR</a:t>
                      </a:r>
                      <a:endParaRPr sz="1275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LOS</a:t>
                      </a:r>
                      <a:endParaRPr sz="1275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保留</a:t>
                      </a:r>
                      <a:endParaRPr sz="1275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6200" marR="76200" marT="47625" marB="47625"/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5</a:t>
                      </a:r>
                      <a:endParaRPr sz="1275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S1 Des POT</a:t>
                      </a:r>
                      <a:endParaRPr sz="1275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LOS</a:t>
                      </a:r>
                      <a:endParaRPr sz="1275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保留</a:t>
                      </a:r>
                      <a:endParaRPr sz="1275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6200" marR="76200" marT="47625" marB="47625"/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</a:t>
                      </a:r>
                      <a:endParaRPr sz="1275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S1 Des POT</a:t>
                      </a:r>
                      <a:endParaRPr sz="1275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AZI</a:t>
                      </a:r>
                      <a:endParaRPr sz="1275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排除</a:t>
                      </a:r>
                      <a:endParaRPr sz="1275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6200" marR="76200" marT="47625" marB="47625"/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7</a:t>
                      </a:r>
                      <a:endParaRPr sz="1275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ALOS-2 DInSAR</a:t>
                      </a:r>
                      <a:endParaRPr sz="1275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LOS</a:t>
                      </a:r>
                      <a:endParaRPr sz="1275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保留</a:t>
                      </a:r>
                      <a:endParaRPr sz="1275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6200" marR="76200" marT="47625" marB="47625"/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8</a:t>
                      </a:r>
                      <a:endParaRPr sz="1275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ALOS-2 Des POT</a:t>
                      </a:r>
                      <a:endParaRPr sz="1275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AZI</a:t>
                      </a:r>
                      <a:endParaRPr sz="1275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保留</a:t>
                      </a:r>
                      <a:endParaRPr sz="1275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6200" marR="76200" marT="47625" marB="47625"/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9</a:t>
                      </a:r>
                      <a:endParaRPr sz="1275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ALOS-2 Des MAI</a:t>
                      </a:r>
                      <a:endParaRPr sz="1275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AZI</a:t>
                      </a:r>
                      <a:endParaRPr sz="1275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保留</a:t>
                      </a:r>
                      <a:endParaRPr sz="1275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6200" marR="76200" marT="47625" marB="47625"/>
                </a:tc>
              </a:tr>
            </a:tbl>
          </a:graphicData>
        </a:graphic>
      </p:graphicFrame>
      <p:sp>
        <p:nvSpPr>
          <p:cNvPr id="7" name="矩形 6"/>
          <p:cNvSpPr>
            <a:spLocks noGrp="1"/>
          </p:cNvSpPr>
          <p:nvPr/>
        </p:nvSpPr>
        <p:spPr>
          <a:xfrm>
            <a:off x="8239125" y="1571625"/>
            <a:ext cx="276225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100" b="1">
                <a:solidFill>
                  <a:srgbClr val="236A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236A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original7</a:t>
            </a:r>
            <a:endParaRPr sz="2100" b="1">
              <a:solidFill>
                <a:srgbClr val="236A9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8239125" y="2143125"/>
            <a:ext cx="2857500" cy="762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排除编号 3、6 的 Sentinel-1 POT-AZI。</a:t>
            </a:r>
            <a:endParaRPr sz="180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8239125" y="3476625"/>
            <a:ext cx="276225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100" b="1">
                <a:solidFill>
                  <a:srgbClr val="E533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E533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all9</a:t>
            </a:r>
            <a:endParaRPr sz="2100" b="1">
              <a:solidFill>
                <a:srgbClr val="E533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8239125" y="4048125"/>
            <a:ext cx="2952750" cy="1333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加入两组 POT-AZI，用同一整景、同一窗口定量比较；是否改善由结果决定。</a:t>
            </a:r>
            <a:endParaRPr sz="180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571500" y="6419850"/>
            <a:ext cx="1104900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050" b="0">
                <a:solidFill>
                  <a:srgbClr val="7777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7777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配置来源：MATLAB DATA.mat 与 Python data_information.txt；观测编号影响 --exclude-obs 和 sita</a:t>
            </a:r>
            <a:endParaRPr sz="1050" b="0">
              <a:solidFill>
                <a:srgbClr val="77777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3" name="图片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11334750" y="6419850"/>
            <a:ext cx="342900" cy="171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900" b="0">
                <a:solidFill>
                  <a:srgbClr val="8A8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8A8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undefined</a:t>
            </a:r>
            <a:endParaRPr sz="900" b="0">
              <a:solidFill>
                <a:srgbClr val="8A8A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238125"/>
            <a:ext cx="1057275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925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925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实验设计：科学结果全部使用整景</a:t>
            </a:r>
            <a:endParaRPr sz="2925" b="1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876300"/>
            <a:ext cx="10953750" cy="19050"/>
          </a:xfrm>
          <a:prstGeom prst="rect">
            <a:avLst/>
          </a:prstGeom>
          <a:solidFill>
            <a:srgbClr val="B7C7D1"/>
          </a:solidFill>
          <a:ln w="0">
            <a:noFill/>
          </a:ln>
        </p:spPr>
        <p:txBody>
          <a:bodyPr anchor="ctr">
            <a:noAutofit/>
          </a:bodyPr>
          <a:lstStyle/>
          <a:p/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9620250" y="238125"/>
            <a:ext cx="19050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200" b="0">
                <a:solidFill>
                  <a:srgbClr val="236A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236A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本地实验</a:t>
            </a:r>
            <a:endParaRPr sz="1200" b="0">
              <a:solidFill>
                <a:srgbClr val="236A9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857250" y="1333500"/>
            <a:ext cx="28575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100" b="1">
                <a:solidFill>
                  <a:srgbClr val="236A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236A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固定条件</a:t>
            </a:r>
            <a:endParaRPr sz="2100" b="1">
              <a:solidFill>
                <a:srgbClr val="236A9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57250" y="1952625"/>
            <a:ext cx="4381500" cy="23336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87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1027×1373 整景（1,410,071 像元）</a:t>
            </a:r>
            <a:endParaRPr sz="1875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 sz="187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窗口 41×41</a:t>
            </a:r>
            <a:endParaRPr sz="1875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 sz="187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fsmpara = 2</a:t>
            </a:r>
            <a:endParaRPr sz="1875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 sz="187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相同的 9 组输入文件与几何</a:t>
            </a:r>
            <a:endParaRPr sz="1875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 sz="187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相同的 original7 / all9 划分</a:t>
            </a:r>
            <a:endParaRPr sz="1875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191250" y="1333500"/>
            <a:ext cx="371475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100" b="1">
                <a:solidFill>
                  <a:srgbClr val="236A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236A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比较一：观测集合</a:t>
            </a:r>
            <a:endParaRPr sz="2100" b="1">
              <a:solidFill>
                <a:srgbClr val="236A9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191250" y="1952625"/>
            <a:ext cx="4286250" cy="1047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87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original7 与 all9 的 ENU 差值</a:t>
            </a:r>
            <a:endParaRPr sz="1875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 sz="187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MATLAB 和 Python 分别运行</a:t>
            </a:r>
            <a:endParaRPr sz="1875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6191250" y="3429000"/>
            <a:ext cx="371475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100" b="1">
                <a:solidFill>
                  <a:srgbClr val="236A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236A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比较二：语言实现</a:t>
            </a:r>
            <a:endParaRPr sz="2100" b="1">
              <a:solidFill>
                <a:srgbClr val="236A9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191250" y="4048125"/>
            <a:ext cx="4619625" cy="1381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87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MATLAB 原版整景为严格参考；Python 整景为 GPU 预览，另用已验证 CPU ROI 核对代码逻辑。</a:t>
            </a:r>
            <a:endParaRPr sz="1875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1952625" y="5572125"/>
            <a:ext cx="828675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025" b="1">
                <a:solidFill>
                  <a:srgbClr val="E533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E533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ROI 只用于 20 分钟现场演示，不再承担科学结论。</a:t>
            </a:r>
            <a:endParaRPr sz="2025" b="1">
              <a:solidFill>
                <a:srgbClr val="E533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2" name="图片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11334750" y="6419850"/>
            <a:ext cx="342900" cy="171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900" b="0">
                <a:solidFill>
                  <a:srgbClr val="8A8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8A8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undefined</a:t>
            </a:r>
            <a:endParaRPr sz="900" b="0">
              <a:solidFill>
                <a:srgbClr val="8A8A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238125"/>
            <a:ext cx="1057275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925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925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VCE 对 9 组观测给出不同方差尺度</a:t>
            </a:r>
            <a:endParaRPr sz="2925" b="1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876300"/>
            <a:ext cx="10953750" cy="19050"/>
          </a:xfrm>
          <a:prstGeom prst="rect">
            <a:avLst/>
          </a:prstGeom>
          <a:solidFill>
            <a:srgbClr val="B7C7D1"/>
          </a:solidFill>
          <a:ln w="0">
            <a:noFill/>
          </a:ln>
        </p:spPr>
        <p:txBody>
          <a:bodyPr anchor="ctr">
            <a:noAutofit/>
          </a:bodyPr>
          <a:lstStyle/>
          <a:p/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9620250" y="238125"/>
            <a:ext cx="19050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200" b="0">
                <a:solidFill>
                  <a:srgbClr val="236A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236A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本地结果</a:t>
            </a:r>
            <a:endParaRPr sz="1200" b="0">
              <a:solidFill>
                <a:srgbClr val="236A9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17" name="表格 16"/>
          <p:cNvGraphicFramePr/>
          <p:nvPr/>
        </p:nvGraphicFramePr>
        <p:xfrm>
          <a:off x="857250" y="1190625"/>
          <a:ext cx="6667500" cy="4810130"/>
        </p:xfrm>
        <a:graphic>
          <a:graphicData uri="http://schemas.openxmlformats.org/drawingml/2006/table">
            <a:tbl>
              <a:tblPr/>
              <a:tblGrid>
                <a:gridCol w="857250"/>
                <a:gridCol w="2857500"/>
                <a:gridCol w="2952750"/>
              </a:tblGrid>
              <a:tr h="481013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组</a:t>
                      </a:r>
                      <a:endParaRPr sz="13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6200" marR="76200" marT="47625" marB="47625">
                    <a:solidFill>
                      <a:srgbClr val="4A9CC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MATLAB sita 中位数</a:t>
                      </a:r>
                      <a:endParaRPr sz="13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6200" marR="76200" marT="47625" marB="47625">
                    <a:solidFill>
                      <a:srgbClr val="4A9CC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Python sita 中位数</a:t>
                      </a:r>
                      <a:endParaRPr sz="13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6200" marR="76200" marT="47625" marB="47625">
                    <a:solidFill>
                      <a:srgbClr val="4A9CCB"/>
                    </a:solidFill>
                  </a:tcPr>
                </a:tc>
              </a:tr>
              <a:tr h="481013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</a:t>
                      </a:r>
                      <a:endParaRPr sz="1350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2.075e-5</a:t>
                      </a:r>
                      <a:endParaRPr sz="1350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1.604e-5</a:t>
                      </a:r>
                      <a:endParaRPr sz="1350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6200" marR="76200" marT="47625" marB="47625"/>
                </a:tc>
              </a:tr>
              <a:tr h="481013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</a:t>
                      </a:r>
                      <a:endParaRPr sz="1350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1.731e-3</a:t>
                      </a:r>
                      <a:endParaRPr sz="1350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1.734e-3</a:t>
                      </a:r>
                      <a:endParaRPr sz="1350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6200" marR="76200" marT="47625" marB="47625"/>
                </a:tc>
              </a:tr>
              <a:tr h="481013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</a:t>
                      </a:r>
                      <a:endParaRPr sz="1350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1.775e-3</a:t>
                      </a:r>
                      <a:endParaRPr sz="1350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7.567e-4</a:t>
                      </a:r>
                      <a:endParaRPr sz="1350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6200" marR="76200" marT="47625" marB="47625"/>
                </a:tc>
              </a:tr>
              <a:tr h="481013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</a:t>
                      </a:r>
                      <a:endParaRPr sz="1350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1.117e-4</a:t>
                      </a:r>
                      <a:endParaRPr sz="1350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1.109e-4</a:t>
                      </a:r>
                      <a:endParaRPr sz="1350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6200" marR="76200" marT="47625" marB="47625"/>
                </a:tc>
              </a:tr>
              <a:tr h="481013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5</a:t>
                      </a:r>
                      <a:endParaRPr sz="1350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1.774e-3</a:t>
                      </a:r>
                      <a:endParaRPr sz="1350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1.771e-3</a:t>
                      </a:r>
                      <a:endParaRPr sz="1350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6200" marR="76200" marT="47625" marB="47625"/>
                </a:tc>
              </a:tr>
              <a:tr h="481013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</a:t>
                      </a:r>
                      <a:endParaRPr sz="1350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1.772e-3</a:t>
                      </a:r>
                      <a:endParaRPr sz="1350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7.870e-4</a:t>
                      </a:r>
                      <a:endParaRPr sz="1350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6200" marR="76200" marT="47625" marB="47625"/>
                </a:tc>
              </a:tr>
              <a:tr h="481013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7</a:t>
                      </a:r>
                      <a:endParaRPr sz="1350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4.117e-4</a:t>
                      </a:r>
                      <a:endParaRPr sz="1350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4.152e-4</a:t>
                      </a:r>
                      <a:endParaRPr sz="1350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6200" marR="76200" marT="47625" marB="47625"/>
                </a:tc>
              </a:tr>
              <a:tr h="481013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8</a:t>
                      </a:r>
                      <a:endParaRPr sz="1350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1.320e-3</a:t>
                      </a:r>
                      <a:endParaRPr sz="1350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5.224e-4</a:t>
                      </a:r>
                      <a:endParaRPr sz="1350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6200" marR="76200" marT="47625" marB="47625"/>
                </a:tc>
              </a:tr>
              <a:tr h="481013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9</a:t>
                      </a:r>
                      <a:endParaRPr sz="1350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8.632e-4</a:t>
                      </a:r>
                      <a:endParaRPr sz="1350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1.578e-5</a:t>
                      </a:r>
                      <a:endParaRPr sz="1350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6200" marR="76200" marT="47625" marB="47625"/>
                </a:tc>
              </a:tr>
            </a:tbl>
          </a:graphicData>
        </a:graphic>
      </p:graphicFrame>
      <p:sp>
        <p:nvSpPr>
          <p:cNvPr id="7" name="矩形 6"/>
          <p:cNvSpPr>
            <a:spLocks noGrp="1"/>
          </p:cNvSpPr>
          <p:nvPr/>
        </p:nvSpPr>
        <p:spPr>
          <a:xfrm>
            <a:off x="7953375" y="1476375"/>
            <a:ext cx="3333750" cy="666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025" b="1">
                <a:solidFill>
                  <a:srgbClr val="E533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E533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整景统计，不再用 61×101 ROI</a:t>
            </a:r>
            <a:endParaRPr sz="2025" b="1">
              <a:solidFill>
                <a:srgbClr val="E533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8048625" y="2428875"/>
            <a:ext cx="3048000" cy="1047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每个数值都是 1,410,071 像元范围内该观测组 sita 的中位数。</a:t>
            </a:r>
            <a:endParaRPr sz="180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8048625" y="3905250"/>
            <a:ext cx="3143250" cy="1333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MATLAB 列含完整断层跨侧同质点选择；Python 列来自 GPU 预览，主要核对量级与排序。</a:t>
            </a:r>
            <a:endParaRPr sz="180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7953375" y="5476875"/>
            <a:ext cx="3333750" cy="619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575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sita 不是原始数据标准差；它同时受观测误差、模型失配和覆盖条件影响。</a:t>
            </a:r>
            <a:endParaRPr sz="1575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571500" y="6419850"/>
            <a:ext cx="1104900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050" b="0">
                <a:solidFill>
                  <a:srgbClr val="7777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7777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本机整景实跑：04_运行结果/15_整景定量对比/full_scene_vce_medians.csv</a:t>
            </a:r>
            <a:endParaRPr sz="1050" b="0">
              <a:solidFill>
                <a:srgbClr val="77777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5" name="图片 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11334750" y="6419850"/>
            <a:ext cx="342900" cy="171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900" b="0">
                <a:solidFill>
                  <a:srgbClr val="8A8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8A8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undefined</a:t>
            </a:r>
            <a:endParaRPr sz="900" b="0">
              <a:solidFill>
                <a:srgbClr val="8A8A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238125"/>
            <a:ext cx="1057275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625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625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原版整景：加入两组 POT-AZI 后改变了什么</a:t>
            </a:r>
            <a:endParaRPr sz="2625" b="1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876300"/>
            <a:ext cx="10953750" cy="19050"/>
          </a:xfrm>
          <a:prstGeom prst="rect">
            <a:avLst/>
          </a:prstGeom>
          <a:solidFill>
            <a:srgbClr val="B7C7D1"/>
          </a:solidFill>
          <a:ln w="0">
            <a:noFill/>
          </a:ln>
        </p:spPr>
        <p:txBody>
          <a:bodyPr anchor="ctr">
            <a:noAutofit/>
          </a:bodyPr>
          <a:lstStyle/>
          <a:p/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9620250" y="238125"/>
            <a:ext cx="19050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200" b="0">
                <a:solidFill>
                  <a:srgbClr val="236A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236A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本地结果</a:t>
            </a:r>
            <a:endParaRPr sz="1200" b="0">
              <a:solidFill>
                <a:srgbClr val="236A9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8626" y="1143000"/>
            <a:ext cx="6472499" cy="5143500"/>
          </a:xfrm>
          <a:prstGeom prst="rect">
            <a:avLst/>
          </a:prstGeom>
        </p:spPr>
      </p:pic>
      <p:sp>
        <p:nvSpPr>
          <p:cNvPr id="7" name="矩形 6"/>
          <p:cNvSpPr>
            <a:spLocks noGrp="1"/>
          </p:cNvSpPr>
          <p:nvPr/>
        </p:nvSpPr>
        <p:spPr>
          <a:xfrm>
            <a:off x="9429750" y="1524000"/>
            <a:ext cx="171450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875" b="1">
                <a:solidFill>
                  <a:srgbClr val="236A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236A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左列</a:t>
            </a:r>
            <a:endParaRPr sz="1875" b="1">
              <a:solidFill>
                <a:srgbClr val="236A9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9429750" y="1952625"/>
            <a:ext cx="171450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original7</a:t>
            </a:r>
            <a:endParaRPr sz="1725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9429750" y="2857500"/>
            <a:ext cx="171450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875" b="1">
                <a:solidFill>
                  <a:srgbClr val="236A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236A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中列</a:t>
            </a:r>
            <a:endParaRPr sz="1875" b="1">
              <a:solidFill>
                <a:srgbClr val="236A9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9429750" y="3286125"/>
            <a:ext cx="171450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all9</a:t>
            </a:r>
            <a:endParaRPr sz="1725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9429750" y="4191000"/>
            <a:ext cx="171450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875" b="1">
                <a:solidFill>
                  <a:srgbClr val="E533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E533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右列</a:t>
            </a:r>
            <a:endParaRPr sz="1875" b="1">
              <a:solidFill>
                <a:srgbClr val="E533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9429750" y="4619625"/>
            <a:ext cx="190500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65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all9 − original7</a:t>
            </a:r>
            <a:endParaRPr sz="165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9334500" y="5286375"/>
            <a:ext cx="2143125" cy="809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6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右列直接显示整景影响，条带与块状结构以结果为准。</a:t>
            </a:r>
            <a:endParaRPr sz="1650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571500" y="6419850"/>
            <a:ext cx="1104900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050" b="0">
                <a:solidFill>
                  <a:srgbClr val="7777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7777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本机 MATLAB 原版实跑；1027×1373 整景、窗口 41、完整 fault.xy</a:t>
            </a:r>
            <a:endParaRPr sz="1050" b="0">
              <a:solidFill>
                <a:srgbClr val="77777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5" name="图片 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11334750" y="6419850"/>
            <a:ext cx="342900" cy="171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900" b="0">
                <a:solidFill>
                  <a:srgbClr val="8A8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8A8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undefined</a:t>
            </a:r>
            <a:endParaRPr sz="900" b="0">
              <a:solidFill>
                <a:srgbClr val="8A8A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238125"/>
            <a:ext cx="1057275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625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625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Python GPU 整景预览与原版：只做形态核对</a:t>
            </a:r>
            <a:endParaRPr sz="2625" b="1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876300"/>
            <a:ext cx="10953750" cy="19050"/>
          </a:xfrm>
          <a:prstGeom prst="rect">
            <a:avLst/>
          </a:prstGeom>
          <a:solidFill>
            <a:srgbClr val="B7C7D1"/>
          </a:solidFill>
          <a:ln w="0">
            <a:noFill/>
          </a:ln>
        </p:spPr>
        <p:txBody>
          <a:bodyPr anchor="ctr">
            <a:noAutofit/>
          </a:bodyPr>
          <a:lstStyle/>
          <a:p/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9620250" y="238125"/>
            <a:ext cx="19050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200" b="0">
                <a:solidFill>
                  <a:srgbClr val="236A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236A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双版本复现</a:t>
            </a:r>
            <a:endParaRPr sz="1200" b="0">
              <a:solidFill>
                <a:srgbClr val="236A9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7688" y="1143000"/>
            <a:ext cx="6472499" cy="5143500"/>
          </a:xfrm>
          <a:prstGeom prst="rect">
            <a:avLst/>
          </a:prstGeom>
        </p:spPr>
      </p:pic>
      <p:sp>
        <p:nvSpPr>
          <p:cNvPr id="7" name="矩形 6"/>
          <p:cNvSpPr>
            <a:spLocks noGrp="1"/>
          </p:cNvSpPr>
          <p:nvPr/>
        </p:nvSpPr>
        <p:spPr>
          <a:xfrm>
            <a:off x="9572625" y="1571625"/>
            <a:ext cx="152400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875" b="1">
                <a:solidFill>
                  <a:srgbClr val="236A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236A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左列</a:t>
            </a:r>
            <a:endParaRPr sz="1875" b="1">
              <a:solidFill>
                <a:srgbClr val="236A9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9572625" y="1952625"/>
            <a:ext cx="1762125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65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MATLAB 原函数</a:t>
            </a:r>
            <a:endParaRPr sz="165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9572625" y="3000375"/>
            <a:ext cx="152400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875" b="1">
                <a:solidFill>
                  <a:srgbClr val="236A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236A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中列</a:t>
            </a:r>
            <a:endParaRPr sz="1875" b="1">
              <a:solidFill>
                <a:srgbClr val="236A9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9572625" y="3381375"/>
            <a:ext cx="1714500" cy="428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65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Python 移植</a:t>
            </a:r>
            <a:endParaRPr sz="165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9572625" y="4333875"/>
            <a:ext cx="152400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875" b="1">
                <a:solidFill>
                  <a:srgbClr val="E533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E533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右列</a:t>
            </a:r>
            <a:endParaRPr sz="1875" b="1">
              <a:solidFill>
                <a:srgbClr val="E533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9572625" y="4714875"/>
            <a:ext cx="1905000" cy="714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65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Python − MATLAB</a:t>
            </a:r>
            <a:endParaRPr sz="165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 sz="165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98% 分位色阶</a:t>
            </a:r>
            <a:endParaRPr sz="165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9477375" y="5572125"/>
            <a:ext cx="2095500" cy="619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5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GPU 预览关闭跨断层窗口剔除，差值含算法配置差异。</a:t>
            </a:r>
            <a:endParaRPr sz="1500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571500" y="6419850"/>
            <a:ext cx="1104900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050" b="0">
                <a:solidFill>
                  <a:srgbClr val="7777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7777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本机整景实跑；MATLAB 原版为严格参考，Python 为 GPU 预览</a:t>
            </a:r>
            <a:endParaRPr sz="1050" b="0">
              <a:solidFill>
                <a:srgbClr val="77777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4" name="图片 1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11334750" y="6419850"/>
            <a:ext cx="342900" cy="171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900" b="0">
                <a:solidFill>
                  <a:srgbClr val="8A8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8A8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undefined</a:t>
            </a:r>
            <a:endParaRPr sz="900" b="0">
              <a:solidFill>
                <a:srgbClr val="8A8A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238125"/>
            <a:ext cx="1057275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925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925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整景定量：观测集合影响与实现差异分开报告</a:t>
            </a:r>
            <a:endParaRPr sz="2925" b="1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876300"/>
            <a:ext cx="10953750" cy="19050"/>
          </a:xfrm>
          <a:prstGeom prst="rect">
            <a:avLst/>
          </a:prstGeom>
          <a:solidFill>
            <a:srgbClr val="B7C7D1"/>
          </a:solidFill>
          <a:ln w="0">
            <a:noFill/>
          </a:ln>
        </p:spPr>
        <p:txBody>
          <a:bodyPr anchor="ctr">
            <a:noAutofit/>
          </a:bodyPr>
          <a:lstStyle/>
          <a:p/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9620250" y="238125"/>
            <a:ext cx="19050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200" b="0">
                <a:solidFill>
                  <a:srgbClr val="236A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236A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定量比较</a:t>
            </a:r>
            <a:endParaRPr sz="1200" b="0">
              <a:solidFill>
                <a:srgbClr val="236A9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19" name="表格 18"/>
          <p:cNvGraphicFramePr/>
          <p:nvPr/>
        </p:nvGraphicFramePr>
        <p:xfrm>
          <a:off x="428625" y="1238250"/>
          <a:ext cx="11334750" cy="3190875"/>
        </p:xfrm>
        <a:graphic>
          <a:graphicData uri="http://schemas.openxmlformats.org/drawingml/2006/table">
            <a:tbl>
              <a:tblPr/>
              <a:tblGrid>
                <a:gridCol w="2857500"/>
                <a:gridCol w="857250"/>
                <a:gridCol w="1905000"/>
                <a:gridCol w="1809750"/>
                <a:gridCol w="1809750"/>
                <a:gridCol w="1714500"/>
              </a:tblGrid>
              <a:tr h="455839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比较</a:t>
                      </a:r>
                      <a:endParaRPr sz="127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6200" marR="76200" marT="47625" marB="47625">
                    <a:solidFill>
                      <a:srgbClr val="4A9CC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分量</a:t>
                      </a:r>
                      <a:endParaRPr sz="127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6200" marR="76200" marT="47625" marB="47625">
                    <a:solidFill>
                      <a:srgbClr val="4A9CC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中位 |差|</a:t>
                      </a:r>
                      <a:endParaRPr sz="127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6200" marR="76200" marT="47625" marB="47625">
                    <a:solidFill>
                      <a:srgbClr val="4A9CC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MAE (m)</a:t>
                      </a:r>
                      <a:endParaRPr sz="127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6200" marR="76200" marT="47625" marB="47625">
                    <a:solidFill>
                      <a:srgbClr val="4A9CC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RMSE (m)</a:t>
                      </a:r>
                      <a:endParaRPr sz="127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6200" marR="76200" marT="47625" marB="47625">
                    <a:solidFill>
                      <a:srgbClr val="4A9CC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corr</a:t>
                      </a:r>
                      <a:endParaRPr sz="127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6200" marR="76200" marT="47625" marB="47625">
                    <a:solidFill>
                      <a:srgbClr val="4A9CCB"/>
                    </a:solidFill>
                  </a:tcPr>
                </a:tc>
              </a:tr>
              <a:tr h="455839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原版 all9 − original7</a:t>
                      </a:r>
                      <a:endParaRPr sz="1275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E</a:t>
                      </a:r>
                      <a:endParaRPr sz="1275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2.2 mm</a:t>
                      </a:r>
                      <a:endParaRPr sz="1275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0.0044</a:t>
                      </a:r>
                      <a:endParaRPr sz="1275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0.0096</a:t>
                      </a:r>
                      <a:endParaRPr sz="1275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0.9991</a:t>
                      </a:r>
                      <a:endParaRPr sz="1275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6200" marR="76200" marT="47625" marB="47625"/>
                </a:tc>
              </a:tr>
              <a:tr h="455839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原版 all9 − original7</a:t>
                      </a:r>
                      <a:endParaRPr sz="1275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N</a:t>
                      </a:r>
                      <a:endParaRPr sz="1275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8.9 mm</a:t>
                      </a:r>
                      <a:endParaRPr sz="1275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0.0282</a:t>
                      </a:r>
                      <a:endParaRPr sz="1275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0.0726</a:t>
                      </a:r>
                      <a:endParaRPr sz="1275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0.8664</a:t>
                      </a:r>
                      <a:endParaRPr sz="1275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6200" marR="76200" marT="47625" marB="47625"/>
                </a:tc>
              </a:tr>
              <a:tr h="455839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原版 all9 − original7</a:t>
                      </a:r>
                      <a:endParaRPr sz="1275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U</a:t>
                      </a:r>
                      <a:endParaRPr sz="1275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2.2 mm</a:t>
                      </a:r>
                      <a:endParaRPr sz="1275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0.0050</a:t>
                      </a:r>
                      <a:endParaRPr sz="1275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0.0110</a:t>
                      </a:r>
                      <a:endParaRPr sz="1275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0.9786</a:t>
                      </a:r>
                      <a:endParaRPr sz="1275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6200" marR="76200" marT="47625" marB="47625"/>
                </a:tc>
              </a:tr>
              <a:tr h="455839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Python 预览 − 原版</a:t>
                      </a:r>
                      <a:endParaRPr sz="1275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E</a:t>
                      </a:r>
                      <a:endParaRPr sz="1275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&lt;0.01 mm</a:t>
                      </a:r>
                      <a:endParaRPr sz="1275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0.0062</a:t>
                      </a:r>
                      <a:endParaRPr sz="1275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0.0608</a:t>
                      </a:r>
                      <a:endParaRPr sz="1275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0.9640</a:t>
                      </a:r>
                      <a:endParaRPr sz="1275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6200" marR="76200" marT="47625" marB="47625"/>
                </a:tc>
              </a:tr>
              <a:tr h="455839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Python 预览 − 原版</a:t>
                      </a:r>
                      <a:endParaRPr sz="1275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N</a:t>
                      </a:r>
                      <a:endParaRPr sz="1275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&lt;0.01 mm</a:t>
                      </a:r>
                      <a:endParaRPr sz="1275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0.0021</a:t>
                      </a:r>
                      <a:endParaRPr sz="1275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0.0187</a:t>
                      </a:r>
                      <a:endParaRPr sz="1275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0.9910</a:t>
                      </a:r>
                      <a:endParaRPr sz="1275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6200" marR="76200" marT="47625" marB="47625"/>
                </a:tc>
              </a:tr>
              <a:tr h="455839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Python 预览 − 原版</a:t>
                      </a:r>
                      <a:endParaRPr sz="1275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U</a:t>
                      </a:r>
                      <a:endParaRPr sz="1275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&lt;0.01 mm</a:t>
                      </a:r>
                      <a:endParaRPr sz="1275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0.0020</a:t>
                      </a:r>
                      <a:endParaRPr sz="1275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0.0200</a:t>
                      </a:r>
                      <a:endParaRPr sz="1275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0.9250</a:t>
                      </a:r>
                      <a:endParaRPr sz="1275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6200" marR="76200" marT="47625" marB="47625"/>
                </a:tc>
              </a:tr>
            </a:tbl>
          </a:graphicData>
        </a:graphic>
      </p:graphicFrame>
      <p:sp>
        <p:nvSpPr>
          <p:cNvPr id="7" name="矩形 6"/>
          <p:cNvSpPr>
            <a:spLocks noGrp="1"/>
          </p:cNvSpPr>
          <p:nvPr/>
        </p:nvSpPr>
        <p:spPr>
          <a:xfrm>
            <a:off x="666750" y="4810125"/>
            <a:ext cx="323850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950" b="1">
                <a:solidFill>
                  <a:srgbClr val="236A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rgbClr val="236A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上三行：回答观测选择</a:t>
            </a:r>
            <a:endParaRPr sz="1950" b="1">
              <a:solidFill>
                <a:srgbClr val="236A9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66750" y="5238750"/>
            <a:ext cx="3429000" cy="666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65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同一原版代码，只改变是否加入第 3、6 组。</a:t>
            </a:r>
            <a:endParaRPr sz="165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4476750" y="4810125"/>
            <a:ext cx="333375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950" b="1">
                <a:solidFill>
                  <a:srgbClr val="E533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rgbClr val="E533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下三行：只做预览核对</a:t>
            </a:r>
            <a:endParaRPr sz="1950" b="1">
              <a:solidFill>
                <a:srgbClr val="E533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4476750" y="5238750"/>
            <a:ext cx="3714750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65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含关闭断层跨侧窗口剔除的配置差异，不能当作移植精度。</a:t>
            </a:r>
            <a:endParaRPr sz="165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8810625" y="4810125"/>
            <a:ext cx="238125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950" b="1">
                <a:solidFill>
                  <a:srgbClr val="236A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rgbClr val="236A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有效网格</a:t>
            </a:r>
            <a:endParaRPr sz="1950" b="1">
              <a:solidFill>
                <a:srgbClr val="236A9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8810625" y="5238750"/>
            <a:ext cx="2381250" cy="666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65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1027×1373</a:t>
            </a:r>
            <a:endParaRPr sz="165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 sz="165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1,410,071 像元</a:t>
            </a:r>
            <a:endParaRPr sz="165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571500" y="6419850"/>
            <a:ext cx="1104900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050" b="0">
                <a:solidFill>
                  <a:srgbClr val="7777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7777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本机整景实跑：full_scene_comparison_metrics.csv；中位差与 RMSE 联合解读</a:t>
            </a:r>
            <a:endParaRPr sz="1050" b="0">
              <a:solidFill>
                <a:srgbClr val="77777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2" name="图片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11334750" y="6419850"/>
            <a:ext cx="342900" cy="171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900" b="0">
                <a:solidFill>
                  <a:srgbClr val="8A8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8A8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undefined</a:t>
            </a:r>
            <a:endParaRPr sz="900" b="0">
              <a:solidFill>
                <a:srgbClr val="8A8A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238125"/>
            <a:ext cx="1057275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625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625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Python 震例处理：从反演结果派生，不改通用公式</a:t>
            </a:r>
            <a:endParaRPr sz="2625" b="1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876300"/>
            <a:ext cx="10953750" cy="19050"/>
          </a:xfrm>
          <a:prstGeom prst="rect">
            <a:avLst/>
          </a:prstGeom>
          <a:solidFill>
            <a:srgbClr val="B7C7D1"/>
          </a:solidFill>
          <a:ln w="0">
            <a:noFill/>
          </a:ln>
        </p:spPr>
        <p:txBody>
          <a:bodyPr anchor="ctr">
            <a:noAutofit/>
          </a:bodyPr>
          <a:lstStyle/>
          <a:p/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9620250" y="238125"/>
            <a:ext cx="19050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200" b="0">
                <a:solidFill>
                  <a:srgbClr val="236A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236A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Python 修正</a:t>
            </a:r>
            <a:endParaRPr sz="1200" b="0">
              <a:solidFill>
                <a:srgbClr val="236A9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523875" y="1285875"/>
            <a:ext cx="314325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100" b="1">
                <a:solidFill>
                  <a:srgbClr val="236A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236A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本次整景预览</a:t>
            </a:r>
            <a:endParaRPr sz="2100" b="1">
              <a:solidFill>
                <a:srgbClr val="236A9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523875" y="1857375"/>
            <a:ext cx="4000500" cy="23336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1027×1373 全尺寸</a:t>
            </a:r>
            <a:endParaRPr sz="1725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window = 41，fsmpara = 2</a:t>
            </a:r>
            <a:endParaRPr sz="1725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GPU 批次 4 行</a:t>
            </a:r>
            <a:endParaRPr sz="1725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original7 / all9 均实际运行</a:t>
            </a:r>
            <a:endParaRPr sz="1725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仅预览关闭断层跨侧窗口剔除</a:t>
            </a:r>
            <a:endParaRPr sz="1725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2500" y="1889447"/>
            <a:ext cx="6905625" cy="2269481"/>
          </a:xfrm>
          <a:prstGeom prst="rect">
            <a:avLst/>
          </a:prstGeom>
        </p:spPr>
      </p:pic>
      <p:sp>
        <p:nvSpPr>
          <p:cNvPr id="9" name="矩形 8"/>
          <p:cNvSpPr>
            <a:spLocks noGrp="1"/>
          </p:cNvSpPr>
          <p:nvPr/>
        </p:nvSpPr>
        <p:spPr>
          <a:xfrm>
            <a:off x="666750" y="4619625"/>
            <a:ext cx="257175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875" b="1">
                <a:solidFill>
                  <a:srgbClr val="E533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E533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震例后处理</a:t>
            </a:r>
            <a:endParaRPr sz="1875" b="1">
              <a:solidFill>
                <a:srgbClr val="E533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3143250" y="4524375"/>
            <a:ext cx="8096250" cy="876300"/>
          </a:xfrm>
          <a:prstGeom prst="rect">
            <a:avLst/>
          </a:prstGeom>
          <a:solidFill>
            <a:srgbClr val="FFF8D9"/>
          </a:solidFill>
          <a:ln w="0">
            <a:noFill/>
          </a:ln>
        </p:spPr>
        <p:txBody>
          <a:bodyPr anchor="t">
            <a:noAutofit/>
          </a:bodyPr>
          <a:lstStyle/>
          <a:p>
            <a:pPr>
              <a:def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检查 all9 的 N-S |值|&gt;1 m：本次整景命中 0 像元；展示图边缘腐蚀 15 像元。这个负结果也保留，不回写 GitHub。</a:t>
            </a:r>
            <a:endParaRPr sz="1725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1762125" y="5762625"/>
            <a:ext cx="866775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800" b="1">
                <a:solidFill>
                  <a:srgbClr val="E533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E533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每个震例仍需按分辨率、断层几何、缺测和条带噪声重新设参。</a:t>
            </a:r>
            <a:endParaRPr sz="1800" b="1">
              <a:solidFill>
                <a:srgbClr val="E533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1" name="图片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11334750" y="6419850"/>
            <a:ext cx="342900" cy="171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900" b="0">
                <a:solidFill>
                  <a:srgbClr val="8A8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8A8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undefined</a:t>
            </a:r>
            <a:endParaRPr sz="900" b="0">
              <a:solidFill>
                <a:srgbClr val="8A8A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238125"/>
            <a:ext cx="1057275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925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925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方法的优势与限制</a:t>
            </a:r>
            <a:endParaRPr sz="2925" b="1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876300"/>
            <a:ext cx="10953750" cy="19050"/>
          </a:xfrm>
          <a:prstGeom prst="rect">
            <a:avLst/>
          </a:prstGeom>
          <a:solidFill>
            <a:srgbClr val="B7C7D1"/>
          </a:solidFill>
          <a:ln w="0">
            <a:noFill/>
          </a:ln>
        </p:spPr>
        <p:txBody>
          <a:bodyPr anchor="ctr">
            <a:noAutofit/>
          </a:bodyPr>
          <a:lstStyle/>
          <a:p/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9620250" y="238125"/>
            <a:ext cx="19050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200" b="0">
                <a:solidFill>
                  <a:srgbClr val="236A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236A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批判性评价</a:t>
            </a:r>
            <a:endParaRPr sz="1200" b="0">
              <a:solidFill>
                <a:srgbClr val="236A9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809625" y="1285875"/>
            <a:ext cx="314325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175" b="1">
                <a:solidFill>
                  <a:srgbClr val="236A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1">
                <a:solidFill>
                  <a:srgbClr val="236A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有效之处</a:t>
            </a:r>
            <a:endParaRPr sz="2175" b="1">
              <a:solidFill>
                <a:srgbClr val="236A9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09625" y="1952625"/>
            <a:ext cx="4667250" cy="2238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邻域增广缓解覆盖边界的突变</a:t>
            </a:r>
            <a:endParaRPr sz="180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VCE 从数据中估计组间相对权</a:t>
            </a:r>
            <a:endParaRPr sz="180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输出梯度、方差分量和精度，便于诊断</a:t>
            </a:r>
            <a:endParaRPr sz="180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可整合 LOS、AZI 与直接 ENU 观测</a:t>
            </a:r>
            <a:endParaRPr sz="180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715125" y="1285875"/>
            <a:ext cx="314325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175" b="1">
                <a:solidFill>
                  <a:srgbClr val="E533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1">
                <a:solidFill>
                  <a:srgbClr val="E533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需要谨慎</a:t>
            </a:r>
            <a:endParaRPr sz="2175" b="1">
              <a:solidFill>
                <a:srgbClr val="E533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715125" y="1952625"/>
            <a:ext cx="4667250" cy="2571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局部线性假设可能跨断层失效</a:t>
            </a:r>
            <a:endParaRPr sz="180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组级方差不能消除组内相关条带</a:t>
            </a:r>
            <a:endParaRPr sz="180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方差分量混合了观测误差与模型误差</a:t>
            </a:r>
            <a:endParaRPr sz="180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当前原版只做一次重定权，且对负值取绝对值</a:t>
            </a:r>
            <a:endParaRPr sz="180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参数与后处理不能直接跨震例迁移</a:t>
            </a:r>
            <a:endParaRPr sz="180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285875" y="5286375"/>
            <a:ext cx="9620250" cy="619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9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可信使用方式：保存观测组、窗口、掩膜、sita、残差与边界差值图，联合报告。</a:t>
            </a:r>
            <a:endParaRPr sz="1950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4" name="图片 1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11334750" y="6419850"/>
            <a:ext cx="342900" cy="171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900" b="0">
                <a:solidFill>
                  <a:srgbClr val="8A8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8A8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undefined</a:t>
            </a:r>
            <a:endParaRPr sz="900" b="0">
              <a:solidFill>
                <a:srgbClr val="8A8A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238125"/>
            <a:ext cx="1057275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925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925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</a:t>
            </a:r>
            <a:endParaRPr sz="2925" b="1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876300"/>
            <a:ext cx="10953750" cy="19050"/>
          </a:xfrm>
          <a:prstGeom prst="rect">
            <a:avLst/>
          </a:prstGeom>
          <a:solidFill>
            <a:srgbClr val="B7C7D1"/>
          </a:solidFill>
          <a:ln w="0">
            <a:noFill/>
          </a:ln>
        </p:spPr>
        <p:txBody>
          <a:bodyPr anchor="ctr">
            <a:noAutofit/>
          </a:bodyPr>
          <a:lstStyle/>
          <a:p/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9620250" y="238125"/>
            <a:ext cx="19050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200" b="0">
                <a:solidFill>
                  <a:srgbClr val="236A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236A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正文结束</a:t>
            </a:r>
            <a:endParaRPr sz="1200" b="0">
              <a:solidFill>
                <a:srgbClr val="236A9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857250" y="1381125"/>
            <a:ext cx="171450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325" b="1">
                <a:solidFill>
                  <a:srgbClr val="4A9CC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325" b="1">
                <a:solidFill>
                  <a:srgbClr val="4A9CC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SM</a:t>
            </a:r>
            <a:endParaRPr sz="2325" b="1">
              <a:solidFill>
                <a:srgbClr val="4A9CC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2714625" y="1333500"/>
            <a:ext cx="8382000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0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把窗口内观测写入 9 参数局部模型，增加方程冗余并缓和覆盖边界。</a:t>
            </a:r>
            <a:endParaRPr sz="2025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857250" y="2619375"/>
            <a:ext cx="171450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325" b="1">
                <a:solidFill>
                  <a:srgbClr val="E533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325" b="1">
                <a:solidFill>
                  <a:srgbClr val="E533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VCE</a:t>
            </a:r>
            <a:endParaRPr sz="2325" b="1">
              <a:solidFill>
                <a:srgbClr val="E533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2714625" y="2571750"/>
            <a:ext cx="8382000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0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用分组残差估计方差尺度，再调整各组相对权重；它不是去条带算法。</a:t>
            </a:r>
            <a:endParaRPr sz="2025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857250" y="3857625"/>
            <a:ext cx="171450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325" b="1">
                <a:solidFill>
                  <a:srgbClr val="4A9CC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325" b="1">
                <a:solidFill>
                  <a:srgbClr val="4A9CC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复现</a:t>
            </a:r>
            <a:endParaRPr sz="2325" b="1">
              <a:solidFill>
                <a:srgbClr val="4A9CC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2714625" y="3810000"/>
            <a:ext cx="8382000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0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MATLAB 原版整景给出严格参考；Python GPU 整景预览用于形态与覆盖核对。</a:t>
            </a:r>
            <a:endParaRPr sz="2025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857250" y="5095875"/>
            <a:ext cx="171450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325" b="1">
                <a:solidFill>
                  <a:srgbClr val="E533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325" b="1">
                <a:solidFill>
                  <a:srgbClr val="E533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观测选择</a:t>
            </a:r>
            <a:endParaRPr sz="2325" b="1">
              <a:solidFill>
                <a:srgbClr val="E533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2714625" y="5048250"/>
            <a:ext cx="8382000" cy="666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0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原版 all9 对 N 影响最强（MAE 28.2 mm），E/U 约 4–5 mm；局部 ROI 不能替代整景结论。</a:t>
            </a:r>
            <a:endParaRPr sz="2025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5" name="图片 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11334750" y="6419850"/>
            <a:ext cx="342900" cy="171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900" b="0">
                <a:solidFill>
                  <a:srgbClr val="8A8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8A8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undefined</a:t>
            </a:r>
            <a:endParaRPr sz="900" b="0">
              <a:solidFill>
                <a:srgbClr val="8A8A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238125"/>
            <a:ext cx="1057275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925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925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程序演示顺序</a:t>
            </a:r>
            <a:endParaRPr sz="2925" b="1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876300"/>
            <a:ext cx="10953750" cy="19050"/>
          </a:xfrm>
          <a:prstGeom prst="rect">
            <a:avLst/>
          </a:prstGeom>
          <a:solidFill>
            <a:srgbClr val="B7C7D1"/>
          </a:solidFill>
          <a:ln w="0">
            <a:noFill/>
          </a:ln>
        </p:spPr>
        <p:txBody>
          <a:bodyPr anchor="ctr">
            <a:noAutofit/>
          </a:bodyPr>
          <a:lstStyle/>
          <a:p/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9620250" y="238125"/>
            <a:ext cx="19050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200" b="0">
                <a:solidFill>
                  <a:srgbClr val="236A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236A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演示 20 min</a:t>
            </a:r>
            <a:endParaRPr sz="1200" b="0">
              <a:solidFill>
                <a:srgbClr val="236A9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952500" y="1381125"/>
            <a:ext cx="17145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100" b="1">
                <a:solidFill>
                  <a:srgbClr val="236A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236A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0–3 min</a:t>
            </a:r>
            <a:endParaRPr sz="2100" b="1">
              <a:solidFill>
                <a:srgbClr val="236A9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2857500" y="1381125"/>
            <a:ext cx="76200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87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查看目录、data_information 和 9 组观测编号</a:t>
            </a:r>
            <a:endParaRPr sz="1875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952500" y="2428875"/>
            <a:ext cx="17145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100" b="1">
                <a:solidFill>
                  <a:srgbClr val="236A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236A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3–10 min</a:t>
            </a:r>
            <a:endParaRPr sz="2100" b="1">
              <a:solidFill>
                <a:srgbClr val="236A9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2857500" y="2428875"/>
            <a:ext cx="76200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87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运行 MATLAB original7，再运行 all9</a:t>
            </a:r>
            <a:endParaRPr sz="1875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952500" y="3476625"/>
            <a:ext cx="17145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100" b="1">
                <a:solidFill>
                  <a:srgbClr val="236A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236A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10–17 min</a:t>
            </a:r>
            <a:endParaRPr sz="2100" b="1">
              <a:solidFill>
                <a:srgbClr val="236A9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2857500" y="3476625"/>
            <a:ext cx="76200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87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运行 Python original7 / all9 / tuned</a:t>
            </a:r>
            <a:endParaRPr sz="1875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952500" y="4524375"/>
            <a:ext cx="17145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100" b="1">
                <a:solidFill>
                  <a:srgbClr val="236A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236A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17–20 min</a:t>
            </a:r>
            <a:endParaRPr sz="2100" b="1">
              <a:solidFill>
                <a:srgbClr val="236A9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2857500" y="4524375"/>
            <a:ext cx="76200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87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打开三张对比图，解释条带、边界和定量指标</a:t>
            </a:r>
            <a:endParaRPr sz="1875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1285875" y="5619750"/>
            <a:ext cx="962025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875" b="1">
                <a:solidFill>
                  <a:srgbClr val="E533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E533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正文展示整景结果；现场只运行已验证的 61×101 ROI，以满足 20 分钟演示预算。</a:t>
            </a:r>
            <a:endParaRPr sz="1875" b="1">
              <a:solidFill>
                <a:srgbClr val="E533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2" name="图片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11334750" y="6419850"/>
            <a:ext cx="342900" cy="171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900" b="0">
                <a:solidFill>
                  <a:srgbClr val="8A8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8A8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undefined</a:t>
            </a:r>
            <a:endParaRPr sz="900" b="0">
              <a:solidFill>
                <a:srgbClr val="8A8A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238125"/>
            <a:ext cx="1057275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925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925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MATLAB 原版运行</a:t>
            </a:r>
            <a:endParaRPr sz="2925" b="1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876300"/>
            <a:ext cx="10953750" cy="19050"/>
          </a:xfrm>
          <a:prstGeom prst="rect">
            <a:avLst/>
          </a:prstGeom>
          <a:solidFill>
            <a:srgbClr val="B7C7D1"/>
          </a:solidFill>
          <a:ln w="0">
            <a:noFill/>
          </a:ln>
        </p:spPr>
        <p:txBody>
          <a:bodyPr anchor="ctr">
            <a:noAutofit/>
          </a:bodyPr>
          <a:lstStyle/>
          <a:p/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9620250" y="238125"/>
            <a:ext cx="19050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200" b="0">
                <a:solidFill>
                  <a:srgbClr val="236A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236A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演示</a:t>
            </a:r>
            <a:endParaRPr sz="1200" b="0">
              <a:solidFill>
                <a:srgbClr val="236A9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66750" y="1381125"/>
            <a:ext cx="10858500" cy="1476375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anchor="t">
            <a:noAutofit/>
          </a:bodyPr>
          <a:lstStyle/>
          <a:p>
            <a:pPr>
              <a:defRPr sz="1725" b="0">
                <a:solidFill>
                  <a:srgbClr val="111111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pPr>
            <a:r>
              <a:rPr sz="1725" b="0">
                <a:solidFill>
                  <a:srgbClr val="11111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cd('E:\#Post\2026.09.04 今日组会\02_MATLAB原版')</a:t>
            </a:r>
            <a:endParaRPr sz="1725" b="0">
              <a:solidFill>
                <a:srgbClr val="11111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>
              <a:defRPr sz="1725" b="0">
                <a:solidFill>
                  <a:srgbClr val="111111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pPr>
            <a:r>
              <a:rPr sz="1725" b="0">
                <a:solidFill>
                  <a:srgbClr val="11111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run_groupmeeting_experiment('original7',[390 450 650 750],'..\04_运行结果\现场_MATLAB_original7')</a:t>
            </a:r>
            <a:endParaRPr sz="1725" b="0">
              <a:solidFill>
                <a:srgbClr val="11111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>
              <a:defRPr sz="1725" b="0">
                <a:solidFill>
                  <a:srgbClr val="111111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pPr>
            <a:r>
              <a:rPr sz="1725" b="0">
                <a:solidFill>
                  <a:srgbClr val="11111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run_groupmeeting_experiment('all9',[390 450 650 750],'..\04_运行结果\现场_MATLAB_all9')</a:t>
            </a:r>
            <a:endParaRPr sz="1725" b="0">
              <a:solidFill>
                <a:srgbClr val="11111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762000" y="3333750"/>
            <a:ext cx="24765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100" b="1">
                <a:solidFill>
                  <a:srgbClr val="236A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236A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演示时检查</a:t>
            </a:r>
            <a:endParaRPr sz="2100" b="1">
              <a:solidFill>
                <a:srgbClr val="236A9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62000" y="3952875"/>
            <a:ext cx="5143500" cy="1809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 DATA.mat 是否生成在新工作目录</a:t>
            </a:r>
            <a:endParaRPr sz="180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 original7 是否排除 3、6</a:t>
            </a:r>
            <a:endParaRPr sz="180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 SMVCE_vce.m 是否给出 sita 与 P_vce</a:t>
            </a:r>
            <a:endParaRPr sz="180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4. ENU、sita、m_obs 是否完整保存</a:t>
            </a:r>
            <a:endParaRPr sz="180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7239000" y="3333750"/>
            <a:ext cx="28575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100" b="1">
                <a:solidFill>
                  <a:srgbClr val="E533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E533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原目录只读</a:t>
            </a:r>
            <a:endParaRPr sz="2100" b="1">
              <a:solidFill>
                <a:srgbClr val="E533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7239000" y="3952875"/>
            <a:ext cx="3524250" cy="1333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包装脚本复制配置并把结果写入今日组会目录；不修改刘计洪提供的核心函数。</a:t>
            </a:r>
            <a:endParaRPr sz="180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571500" y="6419850"/>
            <a:ext cx="1104900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050" b="0">
                <a:solidFill>
                  <a:srgbClr val="7777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7777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入口：02_MATLAB原版/run_groupmeeting_experiment.m</a:t>
            </a:r>
            <a:endParaRPr sz="1050" b="0">
              <a:solidFill>
                <a:srgbClr val="77777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3" name="图片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11334750" y="6419850"/>
            <a:ext cx="342900" cy="171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900" b="0">
                <a:solidFill>
                  <a:srgbClr val="8A8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8A8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undefined</a:t>
            </a:r>
            <a:endParaRPr sz="900" b="0">
              <a:solidFill>
                <a:srgbClr val="8A8A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238125"/>
            <a:ext cx="1057275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925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925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Python 版运行</a:t>
            </a:r>
            <a:endParaRPr sz="2925" b="1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876300"/>
            <a:ext cx="10953750" cy="19050"/>
          </a:xfrm>
          <a:prstGeom prst="rect">
            <a:avLst/>
          </a:prstGeom>
          <a:solidFill>
            <a:srgbClr val="B7C7D1"/>
          </a:solidFill>
          <a:ln w="0">
            <a:noFill/>
          </a:ln>
        </p:spPr>
        <p:txBody>
          <a:bodyPr anchor="ctr">
            <a:noAutofit/>
          </a:bodyPr>
          <a:lstStyle/>
          <a:p/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9620250" y="238125"/>
            <a:ext cx="19050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200" b="0">
                <a:solidFill>
                  <a:srgbClr val="236A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236A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演示</a:t>
            </a:r>
            <a:endParaRPr sz="1200" b="0">
              <a:solidFill>
                <a:srgbClr val="236A9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19125" y="1285875"/>
            <a:ext cx="10953750" cy="180975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anchor="t">
            <a:noAutofit/>
          </a:bodyPr>
          <a:lstStyle/>
          <a:p>
            <a:pPr>
              <a:defRPr sz="1350" b="0">
                <a:solidFill>
                  <a:srgbClr val="111111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pPr>
            <a:r>
              <a:rPr sz="1350" b="0">
                <a:solidFill>
                  <a:srgbClr val="11111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cd 'E:\#Post\2026.09.04 今日组会\03_Python版\smvce_tjz'</a:t>
            </a:r>
            <a:endParaRPr sz="1350" b="0">
              <a:solidFill>
                <a:srgbClr val="11111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>
              <a:defRPr sz="1350" b="0">
                <a:solidFill>
                  <a:srgbClr val="111111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pPr>
            <a:r>
              <a:rPr sz="1350" b="0">
                <a:solidFill>
                  <a:srgbClr val="11111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$data='E:\#Post\2026.09.04 今日组会\02_MATLAB原版\SMVCE_MATLAB_原版\SMVCE_DATA'</a:t>
            </a:r>
            <a:endParaRPr sz="1350" b="0">
              <a:solidFill>
                <a:srgbClr val="11111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>
              <a:defRPr sz="1350" b="0">
                <a:solidFill>
                  <a:srgbClr val="111111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pPr>
            <a:r>
              <a:rPr sz="1350" b="0">
                <a:solidFill>
                  <a:srgbClr val="11111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python smvce_main.py -d $data -w 41 --roi 390 450 650 750 --exclude-obs 3,6 --no-wls --no-cuda --no-grd</a:t>
            </a:r>
            <a:endParaRPr sz="1350" b="0">
              <a:solidFill>
                <a:srgbClr val="11111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>
              <a:defRPr sz="1350" b="0">
                <a:solidFill>
                  <a:srgbClr val="111111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pPr>
            <a:r>
              <a:rPr sz="1350" b="0">
                <a:solidFill>
                  <a:srgbClr val="11111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python smvce_main.py -d $data -w 41 --roi 390 450 650 750 --no-wls --no-cuda --no-grd</a:t>
            </a:r>
            <a:endParaRPr sz="1350" b="0">
              <a:solidFill>
                <a:srgbClr val="11111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>
              <a:defRPr sz="1350" b="0">
                <a:solidFill>
                  <a:srgbClr val="111111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pPr>
            <a:r>
              <a:rPr sz="1350" b="0">
                <a:solidFill>
                  <a:srgbClr val="11111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# tuned 另加 --ns-output-clip 1 --figure-erode 15</a:t>
            </a:r>
            <a:endParaRPr sz="1350" b="0">
              <a:solidFill>
                <a:srgbClr val="11111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09625" y="3476625"/>
            <a:ext cx="24765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100" b="1">
                <a:solidFill>
                  <a:srgbClr val="236A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236A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CPU 路径</a:t>
            </a:r>
            <a:endParaRPr sz="2100" b="1">
              <a:solidFill>
                <a:srgbClr val="236A9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809625" y="4000500"/>
            <a:ext cx="3905250" cy="762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 MATLAB 逻辑最接近，便于逐步核对。</a:t>
            </a:r>
            <a:endParaRPr sz="180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477000" y="3476625"/>
            <a:ext cx="24765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100" b="1">
                <a:solidFill>
                  <a:srgbClr val="236A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236A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GPU 路径</a:t>
            </a:r>
            <a:endParaRPr sz="2100" b="1">
              <a:solidFill>
                <a:srgbClr val="236A9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6477000" y="4000500"/>
            <a:ext cx="4095750" cy="1000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仅在固定窗口、无 fault / SMAD / 自适应窗等条件满足时启用。</a:t>
            </a:r>
            <a:endParaRPr sz="180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2190750" y="5572125"/>
            <a:ext cx="7810500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950" b="1">
                <a:solidFill>
                  <a:srgbClr val="E533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rgbClr val="E533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tuned 是当前震例的工程配置，不作为跨震例默认方案。</a:t>
            </a:r>
            <a:endParaRPr sz="1950" b="1">
              <a:solidFill>
                <a:srgbClr val="E533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571500" y="6419850"/>
            <a:ext cx="1104900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050" b="0">
                <a:solidFill>
                  <a:srgbClr val="7777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7777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入口：03_Python版/smvce_tjz/smvce_main.py；环境见 requirements 与运行指南</a:t>
            </a:r>
            <a:endParaRPr sz="1050" b="0">
              <a:solidFill>
                <a:srgbClr val="77777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11334750" y="6419850"/>
            <a:ext cx="342900" cy="171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900" b="0">
                <a:solidFill>
                  <a:srgbClr val="8A8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8A8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undefined</a:t>
            </a:r>
            <a:endParaRPr sz="900" b="0">
              <a:solidFill>
                <a:srgbClr val="8A8A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238125"/>
            <a:ext cx="1057275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925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925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现场检查与常见故障</a:t>
            </a:r>
            <a:endParaRPr sz="2925" b="1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876300"/>
            <a:ext cx="10953750" cy="19050"/>
          </a:xfrm>
          <a:prstGeom prst="rect">
            <a:avLst/>
          </a:prstGeom>
          <a:solidFill>
            <a:srgbClr val="B7C7D1"/>
          </a:solidFill>
          <a:ln w="0">
            <a:noFill/>
          </a:ln>
        </p:spPr>
        <p:txBody>
          <a:bodyPr anchor="ctr">
            <a:noAutofit/>
          </a:bodyPr>
          <a:lstStyle/>
          <a:p/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9620250" y="238125"/>
            <a:ext cx="19050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200" b="0">
                <a:solidFill>
                  <a:srgbClr val="236A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236A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演示</a:t>
            </a:r>
            <a:endParaRPr sz="1200" b="0">
              <a:solidFill>
                <a:srgbClr val="236A9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14" name="表格 13"/>
          <p:cNvGraphicFramePr/>
          <p:nvPr/>
        </p:nvGraphicFramePr>
        <p:xfrm>
          <a:off x="523875" y="1285875"/>
          <a:ext cx="11144250" cy="3714750"/>
        </p:xfrm>
        <a:graphic>
          <a:graphicData uri="http://schemas.openxmlformats.org/drawingml/2006/table">
            <a:tbl>
              <a:tblPr/>
              <a:tblGrid>
                <a:gridCol w="2476500"/>
                <a:gridCol w="3714750"/>
                <a:gridCol w="4953000"/>
              </a:tblGrid>
              <a:tr h="619125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现象</a:t>
                      </a:r>
                      <a:endParaRPr sz="13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6200" marR="76200" marT="47625" marB="47625">
                    <a:solidFill>
                      <a:srgbClr val="4A9CC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优先检查</a:t>
                      </a:r>
                      <a:endParaRPr sz="13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6200" marR="76200" marT="47625" marB="47625">
                    <a:solidFill>
                      <a:srgbClr val="4A9CC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解释</a:t>
                      </a:r>
                      <a:endParaRPr sz="13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6200" marR="76200" marT="47625" marB="47625">
                    <a:solidFill>
                      <a:srgbClr val="4A9CCB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大量 NaN</a:t>
                      </a:r>
                      <a:endParaRPr sz="1350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有效样本、rank、cond</a:t>
                      </a:r>
                      <a:endParaRPr sz="1350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几何或覆盖门限未通过</a:t>
                      </a:r>
                      <a:endParaRPr sz="1350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6200" marR="76200" marT="47625" marB="47625"/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N 分量异常</a:t>
                      </a:r>
                      <a:endParaRPr sz="1350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AZI 观测、方位角、左右视</a:t>
                      </a:r>
                      <a:endParaRPr sz="1350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北向主要依赖弱几何或方位向</a:t>
                      </a:r>
                      <a:endParaRPr sz="1350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6200" marR="76200" marT="47625" marB="47625"/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sita 极端</a:t>
                      </a:r>
                      <a:endParaRPr sz="1350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组编号、掩膜、残差与负值处理</a:t>
                      </a:r>
                      <a:endParaRPr sz="1350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方差分量也会吸收模型误差</a:t>
                      </a:r>
                      <a:endParaRPr sz="1350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6200" marR="76200" marT="47625" marB="47625"/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Python 边界差异</a:t>
                      </a:r>
                      <a:endParaRPr sz="1350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索引、窗口、NaN 与伪逆</a:t>
                      </a:r>
                      <a:endParaRPr sz="1350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主体一致不代表边界实现完全相同</a:t>
                      </a:r>
                      <a:endParaRPr sz="1350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6200" marR="76200" marT="47625" marB="47625"/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GPU 未启用</a:t>
                      </a:r>
                      <a:endParaRPr sz="1350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fault、SMAD、自适应窗、fsmpara</a:t>
                      </a:r>
                      <a:endParaRPr sz="1350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不满足快速路径条件时自动回到 CPU</a:t>
                      </a:r>
                      <a:endParaRPr sz="1350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6200" marR="76200" marT="47625" marB="47625"/>
                </a:tc>
              </a:tr>
            </a:tbl>
          </a:graphicData>
        </a:graphic>
      </p:graphicFrame>
      <p:sp>
        <p:nvSpPr>
          <p:cNvPr id="7" name="矩形 6"/>
          <p:cNvSpPr>
            <a:spLocks noGrp="1"/>
          </p:cNvSpPr>
          <p:nvPr/>
        </p:nvSpPr>
        <p:spPr>
          <a:xfrm>
            <a:off x="714375" y="5381625"/>
            <a:ext cx="219075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025" b="1">
                <a:solidFill>
                  <a:srgbClr val="236A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236A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演示验收</a:t>
            </a:r>
            <a:endParaRPr sz="2025" b="1">
              <a:solidFill>
                <a:srgbClr val="236A9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2905125" y="5286375"/>
            <a:ext cx="8334375" cy="666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命令退出码为 0；输出文件存在；ENU 与 sita 尺寸正确；对比图能打开；original7/all9 配置被保存。</a:t>
            </a:r>
            <a:endParaRPr sz="1725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11334750" y="6419850"/>
            <a:ext cx="342900" cy="171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900" b="0">
                <a:solidFill>
                  <a:srgbClr val="8A8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8A8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undefined</a:t>
            </a:r>
            <a:endParaRPr sz="900" b="0">
              <a:solidFill>
                <a:srgbClr val="8A8A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238125"/>
            <a:ext cx="1057275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925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925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参考文献与材料位置</a:t>
            </a:r>
            <a:endParaRPr sz="2925" b="1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876300"/>
            <a:ext cx="10953750" cy="19050"/>
          </a:xfrm>
          <a:prstGeom prst="rect">
            <a:avLst/>
          </a:prstGeom>
          <a:solidFill>
            <a:srgbClr val="B7C7D1"/>
          </a:solidFill>
          <a:ln w="0">
            <a:noFill/>
          </a:ln>
        </p:spPr>
        <p:txBody>
          <a:bodyPr anchor="ctr">
            <a:noAutofit/>
          </a:bodyPr>
          <a:lstStyle/>
          <a:p/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9620250" y="238125"/>
            <a:ext cx="19050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200" b="0">
                <a:solidFill>
                  <a:srgbClr val="236A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236A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</a:t>
            </a:r>
            <a:endParaRPr sz="1200" b="0">
              <a:solidFill>
                <a:srgbClr val="236A9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66750" y="1190625"/>
            <a:ext cx="10858500" cy="3143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5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Liu, J. et al. (2018). A method for measuring 3-D surface deformations with InSAR based on strain model and variance component estimation. IEEE TGRS 56, 239–250. DOI: 10.1109/TGRS.2017.2745576</a:t>
            </a:r>
            <a:endParaRPr sz="150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sz="1500"/>
          </a:p>
          <a:p>
            <a:pPr>
              <a:defRPr sz="15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Liu, J. et al. (2019). Complete three-dimensional coseismic deformation field of the 2016 Central Tottori earthquake retrieved from InSAR. JGR Solid Earth. DOI: 10.1029/2018JB017159</a:t>
            </a:r>
            <a:endParaRPr sz="150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sz="1500"/>
          </a:p>
          <a:p>
            <a:pPr>
              <a:defRPr sz="15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Liu, J. et al. (2022). Three-dimensional coseismic deformation of the 2022 Menyuan earthquake from multisource SAR. Remote Sensing 14, 1404. DOI: 10.3390/rs14061404</a:t>
            </a:r>
            <a:endParaRPr sz="150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762000" y="4762500"/>
            <a:ext cx="238125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025" b="1">
                <a:solidFill>
                  <a:srgbClr val="236A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236A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本地材料</a:t>
            </a:r>
            <a:endParaRPr sz="2025" b="1">
              <a:solidFill>
                <a:srgbClr val="236A9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62000" y="5219700"/>
            <a:ext cx="6667500" cy="1047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57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01_文献：论文 PDF 与 refs.bib</a:t>
            </a:r>
            <a:endParaRPr sz="1575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 sz="157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02_MATLAB原版：作者程序和只读副本</a:t>
            </a:r>
            <a:endParaRPr sz="1575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 sz="157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03_Python版：本地 GitHub 代码</a:t>
            </a:r>
            <a:endParaRPr sz="1575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 sz="157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04_运行结果：双版本结果与定量对比</a:t>
            </a:r>
            <a:endParaRPr sz="1575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 sz="157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06_讲稿与说明：运行指南与讲稿</a:t>
            </a:r>
            <a:endParaRPr sz="1575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8048625" y="5000625"/>
            <a:ext cx="3333750" cy="809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725" b="1">
                <a:solidFill>
                  <a:srgbClr val="E5332A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pPr>
            <a:r>
              <a:rPr sz="1725" b="1">
                <a:solidFill>
                  <a:srgbClr val="E5332A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工作目录</a:t>
            </a:r>
            <a:endParaRPr sz="1725" b="1">
              <a:solidFill>
                <a:srgbClr val="E5332A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>
              <a:defRPr sz="1725" b="1">
                <a:solidFill>
                  <a:srgbClr val="E5332A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pPr>
            <a:r>
              <a:rPr sz="1725" b="1">
                <a:solidFill>
                  <a:srgbClr val="E5332A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E:\#Post\2026.09.04 今日组会</a:t>
            </a:r>
            <a:endParaRPr sz="1725" b="1">
              <a:solidFill>
                <a:srgbClr val="E5332A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8388</Words>
  <Application>WPS 演示</Application>
  <PresentationFormat>Converted Presentation</PresentationFormat>
  <Paragraphs>1001</Paragraphs>
  <Slides>33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33</vt:i4>
      </vt:variant>
    </vt:vector>
  </HeadingPairs>
  <TitlesOfParts>
    <vt:vector size="41" baseType="lpstr">
      <vt:lpstr>Arial</vt:lpstr>
      <vt:lpstr>宋体</vt:lpstr>
      <vt:lpstr>Wingdings</vt:lpstr>
      <vt:lpstr>微软雅黑</vt:lpstr>
      <vt:lpstr>Calibri</vt:lpstr>
      <vt:lpstr>Arial Unicode MS</vt:lpstr>
      <vt:lpstr>MS PGothic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Leslie</cp:lastModifiedBy>
  <cp:revision>2</cp:revision>
  <dcterms:created xsi:type="dcterms:W3CDTF">2026-09-04T11:35:11Z</dcterms:created>
  <dcterms:modified xsi:type="dcterms:W3CDTF">2026-09-04T11:46:47Z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59C2A48D6B1E4A70BDECB9D8619DF302_12</vt:lpwstr>
  </property>
  <property fmtid="{D5CDD505-2E9C-101B-9397-08002B2CF9AE}" pid="3" name="KSOProductBuildVer">
    <vt:lpwstr>2052-12.1.0.28505</vt:lpwstr>
  </property>
</Properties>
</file>